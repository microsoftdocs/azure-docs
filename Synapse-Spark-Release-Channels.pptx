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B9458-35A6-43A7-B43B-04FBA4C3EA3F}"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6711F4-E48A-4683-8AF0-C384DF0874CA}" type="slidenum">
              <a:rPr lang="en-US" smtClean="0"/>
              <a:t>‹#›</a:t>
            </a:fld>
            <a:endParaRPr lang="en-US"/>
          </a:p>
        </p:txBody>
      </p:sp>
    </p:spTree>
    <p:extLst>
      <p:ext uri="{BB962C8B-B14F-4D97-AF65-F5344CB8AC3E}">
        <p14:creationId xmlns:p14="http://schemas.microsoft.com/office/powerpoint/2010/main" val="1775540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(about 1 minute). A release channel determines which updates a pool receives within a supported runtime version. The channel feature is in preview; Synapse Runtime 3.5 is already generally available. Pools without an explicit channel use default. This presentation is based on the current documentation, not a new support or availability commitment. Channels do not change runtime lifecycle or support dates.</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1</a:t>
            </a:fld>
            <a:endParaRPr lang="en-US"/>
          </a:p>
        </p:txBody>
      </p:sp>
    </p:spTree>
    <p:extLst>
      <p:ext uri="{BB962C8B-B14F-4D97-AF65-F5344CB8AC3E}">
        <p14:creationId xmlns:p14="http://schemas.microsoft.com/office/powerpoint/2010/main" val="1603053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Choice (about 90 seconds). Pair default production pools with earlyAccess test pools. Pair compliance production pools with complianceEarlyAccess test pools. Both stable channels receive the same regular product code. Compliance adds routine package security fixes. Early Access describes timing, not a lower quality standard. Use separate environments and configurations; do not copy an Early Access setting into production as part of application deployment.</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2</a:t>
            </a:fld>
            <a:endParaRPr lang="en-US"/>
          </a:p>
        </p:txBody>
      </p:sp>
    </p:spTree>
    <p:extLst>
      <p:ext uri="{BB962C8B-B14F-4D97-AF65-F5344CB8AC3E}">
        <p14:creationId xmlns:p14="http://schemas.microsoft.com/office/powerpoint/2010/main" val="2094790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(about 90 seconds). Do not combine regular code updates with security-package servicing. Default and compliance get regular updates monthly. Non-exploitable means the issue is not exploitable in the Synapse service context, not that package upgrades cannot break compatibility. Those fixes enter complianceEarlyAccess monthly and are collected for a six-month promotion to compliance. This is a shared collection cycle, not six months of testing for every individual fix. Default gets security fixes only for exploitable issues. Urgent fixes are not held for either schedule.</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3</a:t>
            </a:fld>
            <a:endParaRPr lang="en-US"/>
          </a:p>
        </p:txBody>
      </p:sp>
    </p:spTree>
    <p:extLst>
      <p:ext uri="{BB962C8B-B14F-4D97-AF65-F5344CB8AC3E}">
        <p14:creationId xmlns:p14="http://schemas.microsoft.com/office/powerpoint/2010/main" val="2476178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diagram (about 90 seconds). Month 1 can be any calendar month. Blue: release 1 appears in the two Early Access channels in Month 1, then in both stable channels in Month 2. Orange: package security fixes accumulate and move together to compliance in Month 7. Red: the emergency fix between months 4 and 5 is illustrative; urgent fixes can occur at any time. The diagram is an example, not a promised calendar or SLA. Refer to applicable release notes and security notices for real dates and required actions.</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4</a:t>
            </a:fld>
            <a:endParaRPr lang="en-US"/>
          </a:p>
        </p:txBody>
      </p:sp>
    </p:spTree>
    <p:extLst>
      <p:ext uri="{BB962C8B-B14F-4D97-AF65-F5344CB8AC3E}">
        <p14:creationId xmlns:p14="http://schemas.microsoft.com/office/powerpoint/2010/main" val="3497460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Configuration demo (about 1 minute). Navigate to Manage &gt; Apache Spark configurations. Add the property under Configuration properties, publish, then select it under the pool Apache Spark configuration settings and Apply. Accepted values: default, earlyAccess, compliance, complianceEarlyAccess. Include the property only once per configuration; it is not a once-ever setting. Changes take effect in a new session. If absent, default is used. Keep production on its stable channel. Detailed steps: https://learn.microsoft.com/azure/synapse-analytics/spark/apache-spark-azure-create-spark-configuration</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5</a:t>
            </a:fld>
            <a:endParaRPr lang="en-US"/>
          </a:p>
        </p:txBody>
      </p:sp>
    </p:spTree>
    <p:extLst>
      <p:ext uri="{BB962C8B-B14F-4D97-AF65-F5344CB8AC3E}">
        <p14:creationId xmlns:p14="http://schemas.microsoft.com/office/powerpoint/2010/main" val="1418271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Observability (about 1 minute). These commands read session properties. The empty string is a fallback when a property is not returned, not proof of the active channel. If an explicitly configured value is unexpected, check the pool configuration and start a new session. The VHD image name identifies the runtime build and may also be found in Spark UI or cluster logs. Compare the same workload on the matching stable channel to isolate Early Access issues. The snippets are drawn from the documentation; this deck does not demonstrate a live execution.</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6</a:t>
            </a:fld>
            <a:endParaRPr lang="en-US"/>
          </a:p>
        </p:txBody>
      </p:sp>
    </p:spTree>
    <p:extLst>
      <p:ext uri="{BB962C8B-B14F-4D97-AF65-F5344CB8AC3E}">
        <p14:creationId xmlns:p14="http://schemas.microsoft.com/office/powerpoint/2010/main" val="1357440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(about 1 minute). Review the release notes before testing. Use earlyAccess for default production workloads and complianceEarlyAccess for compliance production workloads. Report a regression if a workload passes on stable but fails in Early Access. Do not promote the test channel configuration to production. For compliance library updates, the production republish step is after runtime promotion, as described on the next slide.</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7</a:t>
            </a:fld>
            <a:endParaRPr lang="en-US"/>
          </a:p>
        </p:txBody>
      </p:sp>
    </p:spTree>
    <p:extLst>
      <p:ext uri="{BB962C8B-B14F-4D97-AF65-F5344CB8AC3E}">
        <p14:creationId xmlns:p14="http://schemas.microsoft.com/office/powerpoint/2010/main" val="1696301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Library preparation (about 2 minutes). Package security fixes can upgrade underlying dependencies and break custom libraries. A snapshot captures the library environment built against the channel package versions. Republish on complianceEarlyAccess to validate upcoming packages. After the six-month bundle reaches compliance, republish production libraries on compliance, producing snapshots against the promoted versions. Review the promotion date and enforcement deadline in the applicable notice. Do not promise a fixed grace period or uninterrupted sessions: the article does not define those behaviors. Missing required republishing by enforcement can prevent new sessions from starting. Urgent security updates can require action outside the six-month cycle.</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8</a:t>
            </a:fld>
            <a:endParaRPr lang="en-US"/>
          </a:p>
        </p:txBody>
      </p:sp>
    </p:spTree>
    <p:extLst>
      <p:ext uri="{BB962C8B-B14F-4D97-AF65-F5344CB8AC3E}">
        <p14:creationId xmlns:p14="http://schemas.microsoft.com/office/powerpoint/2010/main" val="895900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Questions (about 1 minute). Early Access is optional and passes standard validation gates. Moving from earlyAccess to default, or complianceEarlyAccess to compliance, selects the currently available stable channel on a new session. It is not a mechanism for pinning or restoring an earlier build. Selecting a channel does not alter runtime support dates. The feature name compliance should not be presented as a certification or blanket regulatory guarantee.</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9</a:t>
            </a:fld>
            <a:endParaRPr lang="en-US"/>
          </a:p>
        </p:txBody>
      </p:sp>
    </p:spTree>
    <p:extLst>
      <p:ext uri="{BB962C8B-B14F-4D97-AF65-F5344CB8AC3E}">
        <p14:creationId xmlns:p14="http://schemas.microsoft.com/office/powerpoint/2010/main" val="3904513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(about 1 minute plus discussion). Choose default for stable production with fewer routine package changes, or compliance for periodic routine security-package fixes. Use the corresponding Early Access channel to validate. Track both channel and VHD in test results. Republish production libraries on compliance after the six-month promotion. Urgent exploitable issues bypass the routine schedule. Resources: https://github.com/microsoft/synapse-spark-runtime ; https://learn.microsoft.com/azure/synapse-analytics/spark/apache-spark-azure-create-spark-configuration ; https://learn.microsoft.com/azure/synapse-analytics/spark/apache-spark-azure-portal-add-libraries ; https://learn.microsoft.com/azure/synapse-analytics/spark/runtime-for-apache-spark-lifecycle-and-supportability . Select Synapse-specific notes because the release repository also covers Fabric. Use applicable notices for deadlines; do not infer a notification channel or enforcement grace period.</a:t>
            </a:r>
          </a:p>
          <a:p>
            <a:endParaRPr lang="en-US"/>
          </a:p>
          <a:p>
            <a:r>
              <a:rPr lang="en-US"/>
              <a:t>Source: articles/synapse-analytics/spark/apache-spark-runtime-release-channels.md (September 23, 2026).</a:t>
            </a:r>
          </a:p>
        </p:txBody>
      </p:sp>
      <p:sp>
        <p:nvSpPr>
          <p:cNvPr id="4" name="Slide Number Placeholder 3"/>
          <p:cNvSpPr>
            <a:spLocks noGrp="1"/>
          </p:cNvSpPr>
          <p:nvPr>
            <p:ph type="sldNum" sz="quarter" idx="5"/>
          </p:nvPr>
        </p:nvSpPr>
        <p:spPr/>
        <p:txBody>
          <a:bodyPr/>
          <a:lstStyle/>
          <a:p>
            <a:fld id="{2F6711F4-E48A-4683-8AF0-C384DF0874CA}" type="slidenum">
              <a:rPr lang="en-US" smtClean="0"/>
              <a:t>10</a:t>
            </a:fld>
            <a:endParaRPr lang="en-US"/>
          </a:p>
        </p:txBody>
      </p:sp>
    </p:spTree>
    <p:extLst>
      <p:ext uri="{BB962C8B-B14F-4D97-AF65-F5344CB8AC3E}">
        <p14:creationId xmlns:p14="http://schemas.microsoft.com/office/powerpoint/2010/main" val="948223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13CEC-D89C-4427-56AE-B221EF000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D05D1F-CA82-3A67-3F99-937571D9D5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EBA1C8-19A1-F65B-325C-85B61CB9E0EC}"/>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22536543-FE22-2EF6-4B7A-4A3419E61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D03EE0-EFF9-EB4A-9A67-12B2CC6612BB}"/>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4259400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BBCEB-B180-40C6-6ACB-D236A13F52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F59208-DFE1-F685-F7B2-BE1AB49506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9D70DF-DF99-E96C-24D5-E1B4957D1F49}"/>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EF6EBD12-3DE3-65E7-4734-A2D4F26DF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B951CE-1ECF-2B13-CF0D-27A22A858D54}"/>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3091984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CB23-83B8-FD4E-9EE5-BF28742CBD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ECB04B-AEA9-9B0B-EB9E-5B7B4055A4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0C2972-F68D-2AE5-BAC7-AB2DAB4C204E}"/>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84689034-B1A5-E4A7-CFB5-2BA534A27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C3832B-B651-B0D2-B9F8-8A0E7BBC0E0F}"/>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272224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276BD-4237-7729-9D3E-3702D5D02D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5A0E22-2C37-BFB0-1E6D-521E140297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70F858-A429-83AE-C2FD-B6F1ED9CE5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CAE10-909F-2518-C841-E3FFAEEF6586}"/>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6" name="Footer Placeholder 5">
            <a:extLst>
              <a:ext uri="{FF2B5EF4-FFF2-40B4-BE49-F238E27FC236}">
                <a16:creationId xmlns:a16="http://schemas.microsoft.com/office/drawing/2014/main" id="{95E6AB16-3F78-4238-4336-39D78B7E0D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0A1E6F-BE8B-5E17-2669-2600AB4D8072}"/>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866460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22718-B950-367C-C416-6D191DA315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D4E018-EB19-430D-ABE8-86A321CC86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25B9F5-4CB5-F3D2-FB76-B2B0B34E1F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C980CE-5E50-F708-6E4A-5A38382A28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E50C41-B9B3-7974-0638-3683CE913A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1EB6F2-F338-3258-895C-F0F5EC90267A}"/>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8" name="Footer Placeholder 7">
            <a:extLst>
              <a:ext uri="{FF2B5EF4-FFF2-40B4-BE49-F238E27FC236}">
                <a16:creationId xmlns:a16="http://schemas.microsoft.com/office/drawing/2014/main" id="{E85F94CD-E166-D505-6273-5FBD400383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5E1972-3473-DCC6-65F8-26D475DC4107}"/>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168114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701C9-4A8C-A273-763D-024BE49D1B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8BE1D8-C4C8-4467-6313-3C5921DEE107}"/>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4" name="Footer Placeholder 3">
            <a:extLst>
              <a:ext uri="{FF2B5EF4-FFF2-40B4-BE49-F238E27FC236}">
                <a16:creationId xmlns:a16="http://schemas.microsoft.com/office/drawing/2014/main" id="{BD47B8D5-7E5D-7F88-9529-34B03F2512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7F3746-5FEF-72B1-53DA-A467DDEB35EF}"/>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3339045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AA928-39DB-53F3-3730-B620505AFC62}"/>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3" name="Footer Placeholder 2">
            <a:extLst>
              <a:ext uri="{FF2B5EF4-FFF2-40B4-BE49-F238E27FC236}">
                <a16:creationId xmlns:a16="http://schemas.microsoft.com/office/drawing/2014/main" id="{4343EE00-3F33-135B-5113-686E0CBC90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0B7BD4-99B0-3825-5762-F6CD39848844}"/>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2995427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3BABD-1A26-CC3F-25A8-775C96622A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95B95-41B6-8B4B-DF35-AE46FB6467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E3F218-539D-9987-A47A-64BA68ABB8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A54D25-FD06-CCB9-BE0D-FC2E433B344E}"/>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6" name="Footer Placeholder 5">
            <a:extLst>
              <a:ext uri="{FF2B5EF4-FFF2-40B4-BE49-F238E27FC236}">
                <a16:creationId xmlns:a16="http://schemas.microsoft.com/office/drawing/2014/main" id="{1781B7FA-10EA-5F1C-5674-D6F54CEC78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C12BF0-7E9D-6A81-8096-8A94FE878F1D}"/>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3376234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9514B-33B1-F727-B4DC-07BB14E06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7754C2-D2C7-B3D7-7C69-F26B5DE8A3D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643EBB-385A-4191-811C-DC25F20C6C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1509E1-0D91-6D76-ABF2-13879E10AB77}"/>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6" name="Footer Placeholder 5">
            <a:extLst>
              <a:ext uri="{FF2B5EF4-FFF2-40B4-BE49-F238E27FC236}">
                <a16:creationId xmlns:a16="http://schemas.microsoft.com/office/drawing/2014/main" id="{B1A8492E-9D76-B3DB-281C-433C1EA87A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C2DF9C-2767-BE4E-0364-A576C4BA7ECF}"/>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304396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74DA-0280-C10E-4CEF-2F9CEC5021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4D0188-B7AB-30D2-10B2-56A6FC19AB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BBA1C3-8025-D264-9391-136A06D584FB}"/>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73197D64-5343-3BE1-607B-04A26BD704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DDA95-4DAF-2ECB-8EC8-3AFEBE5F698B}"/>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409419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B50844-0B63-FF77-9D55-C4DE481FB6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A3DE7E4-6751-AB25-1001-5A510659C6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65A2E3-A83E-D7A2-2169-0CAA0EBD2226}"/>
              </a:ext>
            </a:extLst>
          </p:cNvPr>
          <p:cNvSpPr>
            <a:spLocks noGrp="1"/>
          </p:cNvSpPr>
          <p:nvPr>
            <p:ph type="dt" sz="half" idx="10"/>
          </p:nvPr>
        </p:nvSpPr>
        <p:spPr/>
        <p:txBody>
          <a:body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FAB2076A-F522-F274-D983-1A509422B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EBD5A-EC70-1590-EDFB-F010B9D09E9C}"/>
              </a:ext>
            </a:extLst>
          </p:cNvPr>
          <p:cNvSpPr>
            <a:spLocks noGrp="1"/>
          </p:cNvSpPr>
          <p:nvPr>
            <p:ph type="sldNum" sz="quarter" idx="12"/>
          </p:nvPr>
        </p:nvSpPr>
        <p:spPr/>
        <p:txBody>
          <a:bodyPr/>
          <a:lstStyle/>
          <a:p>
            <a:fld id="{5957930D-6023-4167-9A1A-7358A3137FB6}" type="slidenum">
              <a:rPr lang="en-US" smtClean="0"/>
              <a:t>‹#›</a:t>
            </a:fld>
            <a:endParaRPr lang="en-US"/>
          </a:p>
        </p:txBody>
      </p:sp>
    </p:spTree>
    <p:extLst>
      <p:ext uri="{BB962C8B-B14F-4D97-AF65-F5344CB8AC3E}">
        <p14:creationId xmlns:p14="http://schemas.microsoft.com/office/powerpoint/2010/main" val="426513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0FA317-18ED-4791-80D0-59DD4867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12ED9F-400F-7D87-CF78-4A7A379CE5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3EF8A-3A62-7082-3151-2C1EB77696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BECDAB-47E1-49D5-B37E-D578AA43C037}" type="datetimeFigureOut">
              <a:rPr lang="en-US" smtClean="0"/>
              <a:t>9/23/2026</a:t>
            </a:fld>
            <a:endParaRPr lang="en-US"/>
          </a:p>
        </p:txBody>
      </p:sp>
      <p:sp>
        <p:nvSpPr>
          <p:cNvPr id="5" name="Footer Placeholder 4">
            <a:extLst>
              <a:ext uri="{FF2B5EF4-FFF2-40B4-BE49-F238E27FC236}">
                <a16:creationId xmlns:a16="http://schemas.microsoft.com/office/drawing/2014/main" id="{E96A8BB7-B55D-CD42-7889-0A26C25A35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3A612C-2F42-888C-A4E8-62F3480BB0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57930D-6023-4167-9A1A-7358A3137FB6}" type="slidenum">
              <a:rPr lang="en-US" smtClean="0"/>
              <a:t>‹#›</a:t>
            </a:fld>
            <a:endParaRPr lang="en-US"/>
          </a:p>
        </p:txBody>
      </p:sp>
    </p:spTree>
    <p:extLst>
      <p:ext uri="{BB962C8B-B14F-4D97-AF65-F5344CB8AC3E}">
        <p14:creationId xmlns:p14="http://schemas.microsoft.com/office/powerpoint/2010/main" val="852802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icrosoft/synapse-spark-runtime"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learn.microsoft.com/azure/synapse-analytics/spark/apache-spark-azure-create-spark-configu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23E43C-8DD4-B90F-611A-70B5CC8ABF77}"/>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286AF0D-F402-92B7-831B-E7830E7DFE48}"/>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FEATURE OVERVIEW</a:t>
            </a:r>
          </a:p>
        </p:txBody>
      </p:sp>
      <p:sp>
        <p:nvSpPr>
          <p:cNvPr id="4" name="Rectangle 3">
            <a:extLst>
              <a:ext uri="{FF2B5EF4-FFF2-40B4-BE49-F238E27FC236}">
                <a16:creationId xmlns:a16="http://schemas.microsoft.com/office/drawing/2014/main" id="{AE6A34B5-155B-E21B-BFB2-C1663ABE7C93}"/>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D0E7A27-22F1-14E7-0A1E-60656BF68234}"/>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6" name="TextBox 5">
            <a:extLst>
              <a:ext uri="{FF2B5EF4-FFF2-40B4-BE49-F238E27FC236}">
                <a16:creationId xmlns:a16="http://schemas.microsoft.com/office/drawing/2014/main" id="{95CD8C73-0957-73C0-D2E6-443FEFDE6F7B}"/>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01</a:t>
            </a:r>
          </a:p>
        </p:txBody>
      </p:sp>
      <p:sp>
        <p:nvSpPr>
          <p:cNvPr id="7" name="TextBox 6">
            <a:extLst>
              <a:ext uri="{FF2B5EF4-FFF2-40B4-BE49-F238E27FC236}">
                <a16:creationId xmlns:a16="http://schemas.microsoft.com/office/drawing/2014/main" id="{67CB7EC9-8B59-416D-584D-88D8BB3E61C5}"/>
              </a:ext>
            </a:extLst>
          </p:cNvPr>
          <p:cNvSpPr txBox="1"/>
          <p:nvPr/>
        </p:nvSpPr>
        <p:spPr>
          <a:xfrm>
            <a:off x="508000" y="1117599"/>
            <a:ext cx="11049000" cy="1676400"/>
          </a:xfrm>
          <a:prstGeom prst="rect">
            <a:avLst/>
          </a:prstGeom>
          <a:noFill/>
        </p:spPr>
        <p:txBody>
          <a:bodyPr vert="horz" wrap="square" lIns="0" tIns="0" rIns="0" bIns="0" rtlCol="0">
            <a:noAutofit/>
          </a:bodyPr>
          <a:lstStyle/>
          <a:p>
            <a:r>
              <a:rPr lang="en-US" sz="4400" b="1">
                <a:solidFill>
                  <a:srgbClr val="17212B"/>
                </a:solidFill>
                <a:latin typeface="Aptos" panose="020B0004020202020204" pitchFamily="34" charset="0"/>
              </a:rPr>
              <a:t>Synapse Spark</a:t>
            </a:r>
          </a:p>
          <a:p>
            <a:r>
              <a:rPr lang="en-US" sz="4400" b="1">
                <a:solidFill>
                  <a:srgbClr val="17212B"/>
                </a:solidFill>
                <a:latin typeface="Aptos" panose="020B0004020202020204" pitchFamily="34" charset="0"/>
              </a:rPr>
              <a:t>runtime release channels</a:t>
            </a:r>
          </a:p>
        </p:txBody>
      </p:sp>
      <p:sp>
        <p:nvSpPr>
          <p:cNvPr id="8" name="TextBox 7">
            <a:extLst>
              <a:ext uri="{FF2B5EF4-FFF2-40B4-BE49-F238E27FC236}">
                <a16:creationId xmlns:a16="http://schemas.microsoft.com/office/drawing/2014/main" id="{B590331D-6154-D969-E199-8C974F1FC5E2}"/>
              </a:ext>
            </a:extLst>
          </p:cNvPr>
          <p:cNvSpPr txBox="1"/>
          <p:nvPr/>
        </p:nvSpPr>
        <p:spPr>
          <a:xfrm>
            <a:off x="533400" y="3022599"/>
            <a:ext cx="10858500" cy="533400"/>
          </a:xfrm>
          <a:prstGeom prst="rect">
            <a:avLst/>
          </a:prstGeom>
          <a:noFill/>
        </p:spPr>
        <p:txBody>
          <a:bodyPr vert="horz" wrap="square" lIns="0" tIns="0" rIns="0" bIns="0" rtlCol="0">
            <a:noAutofit/>
          </a:bodyPr>
          <a:lstStyle/>
          <a:p>
            <a:r>
              <a:rPr lang="en-US" sz="2600">
                <a:solidFill>
                  <a:srgbClr val="52616B"/>
                </a:solidFill>
                <a:latin typeface="Aptos" panose="020B0004020202020204" pitchFamily="34" charset="0"/>
              </a:rPr>
              <a:t>Choose an update path. Test what comes next.</a:t>
            </a:r>
          </a:p>
        </p:txBody>
      </p:sp>
      <p:sp>
        <p:nvSpPr>
          <p:cNvPr id="9" name="Rectangle 8">
            <a:extLst>
              <a:ext uri="{FF2B5EF4-FFF2-40B4-BE49-F238E27FC236}">
                <a16:creationId xmlns:a16="http://schemas.microsoft.com/office/drawing/2014/main" id="{B4EDAE6B-7D46-5AD9-09F5-B9AB5FB2B8A6}"/>
              </a:ext>
            </a:extLst>
          </p:cNvPr>
          <p:cNvSpPr/>
          <p:nvPr/>
        </p:nvSpPr>
        <p:spPr>
          <a:xfrm>
            <a:off x="508000" y="39878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188D794-3899-2BAB-E84B-0F23AF138A78}"/>
              </a:ext>
            </a:extLst>
          </p:cNvPr>
          <p:cNvSpPr txBox="1"/>
          <p:nvPr/>
        </p:nvSpPr>
        <p:spPr>
          <a:xfrm>
            <a:off x="508000" y="4279899"/>
            <a:ext cx="3302000" cy="558800"/>
          </a:xfrm>
          <a:prstGeom prst="rect">
            <a:avLst/>
          </a:prstGeom>
          <a:noFill/>
        </p:spPr>
        <p:txBody>
          <a:bodyPr vert="horz" wrap="square" lIns="0" tIns="0" rIns="0" bIns="0" rtlCol="0">
            <a:noAutofit/>
          </a:bodyPr>
          <a:lstStyle/>
          <a:p>
            <a:r>
              <a:rPr lang="en-US" sz="3000" b="1">
                <a:solidFill>
                  <a:srgbClr val="006DC7"/>
                </a:solidFill>
                <a:latin typeface="Aptos" panose="020B0004020202020204" pitchFamily="34" charset="0"/>
              </a:rPr>
              <a:t>4 channels</a:t>
            </a:r>
          </a:p>
        </p:txBody>
      </p:sp>
      <p:sp>
        <p:nvSpPr>
          <p:cNvPr id="11" name="TextBox 10">
            <a:extLst>
              <a:ext uri="{FF2B5EF4-FFF2-40B4-BE49-F238E27FC236}">
                <a16:creationId xmlns:a16="http://schemas.microsoft.com/office/drawing/2014/main" id="{79A0DA7B-2BD4-6C30-7E34-2B3A6D79524C}"/>
              </a:ext>
            </a:extLst>
          </p:cNvPr>
          <p:cNvSpPr txBox="1"/>
          <p:nvPr/>
        </p:nvSpPr>
        <p:spPr>
          <a:xfrm>
            <a:off x="508000" y="4902199"/>
            <a:ext cx="3365500" cy="609600"/>
          </a:xfrm>
          <a:prstGeom prst="rect">
            <a:avLst/>
          </a:prstGeom>
          <a:noFill/>
        </p:spPr>
        <p:txBody>
          <a:bodyPr vert="horz" wrap="square" lIns="0" tIns="0" rIns="0" bIns="0" rtlCol="0">
            <a:noAutofit/>
          </a:bodyPr>
          <a:lstStyle/>
          <a:p>
            <a:r>
              <a:rPr lang="en-US" sz="1900">
                <a:solidFill>
                  <a:srgbClr val="52616B"/>
                </a:solidFill>
                <a:latin typeface="Aptos" panose="020B0004020202020204" pitchFamily="34" charset="0"/>
              </a:rPr>
              <a:t>Production and test paths</a:t>
            </a:r>
          </a:p>
        </p:txBody>
      </p:sp>
      <p:sp>
        <p:nvSpPr>
          <p:cNvPr id="12" name="TextBox 11">
            <a:extLst>
              <a:ext uri="{FF2B5EF4-FFF2-40B4-BE49-F238E27FC236}">
                <a16:creationId xmlns:a16="http://schemas.microsoft.com/office/drawing/2014/main" id="{681037D4-E19C-9724-3A7D-06EC7DF16337}"/>
              </a:ext>
            </a:extLst>
          </p:cNvPr>
          <p:cNvSpPr txBox="1"/>
          <p:nvPr/>
        </p:nvSpPr>
        <p:spPr>
          <a:xfrm>
            <a:off x="4381500" y="4279899"/>
            <a:ext cx="3302000" cy="558800"/>
          </a:xfrm>
          <a:prstGeom prst="rect">
            <a:avLst/>
          </a:prstGeom>
          <a:noFill/>
        </p:spPr>
        <p:txBody>
          <a:bodyPr vert="horz" wrap="square" lIns="0" tIns="0" rIns="0" bIns="0" rtlCol="0">
            <a:noAutofit/>
          </a:bodyPr>
          <a:lstStyle/>
          <a:p>
            <a:r>
              <a:rPr lang="en-US" sz="3000" b="1">
                <a:solidFill>
                  <a:srgbClr val="007F78"/>
                </a:solidFill>
                <a:latin typeface="Aptos" panose="020B0004020202020204" pitchFamily="34" charset="0"/>
              </a:rPr>
              <a:t>1 GA runtime</a:t>
            </a:r>
          </a:p>
        </p:txBody>
      </p:sp>
      <p:sp>
        <p:nvSpPr>
          <p:cNvPr id="13" name="TextBox 12">
            <a:extLst>
              <a:ext uri="{FF2B5EF4-FFF2-40B4-BE49-F238E27FC236}">
                <a16:creationId xmlns:a16="http://schemas.microsoft.com/office/drawing/2014/main" id="{68BA8B96-73E4-8C54-1D49-36D455114752}"/>
              </a:ext>
            </a:extLst>
          </p:cNvPr>
          <p:cNvSpPr txBox="1"/>
          <p:nvPr/>
        </p:nvSpPr>
        <p:spPr>
          <a:xfrm>
            <a:off x="4381500" y="4902199"/>
            <a:ext cx="3429000" cy="609600"/>
          </a:xfrm>
          <a:prstGeom prst="rect">
            <a:avLst/>
          </a:prstGeom>
          <a:noFill/>
        </p:spPr>
        <p:txBody>
          <a:bodyPr vert="horz" wrap="square" lIns="0" tIns="0" rIns="0" bIns="0" rtlCol="0">
            <a:noAutofit/>
          </a:bodyPr>
          <a:lstStyle/>
          <a:p>
            <a:r>
              <a:rPr lang="en-US" sz="1900">
                <a:solidFill>
                  <a:srgbClr val="52616B"/>
                </a:solidFill>
                <a:latin typeface="Aptos" panose="020B0004020202020204" pitchFamily="34" charset="0"/>
              </a:rPr>
              <a:t>Synapse Runtime 3.5</a:t>
            </a:r>
          </a:p>
        </p:txBody>
      </p:sp>
      <p:sp>
        <p:nvSpPr>
          <p:cNvPr id="14" name="TextBox 13">
            <a:extLst>
              <a:ext uri="{FF2B5EF4-FFF2-40B4-BE49-F238E27FC236}">
                <a16:creationId xmlns:a16="http://schemas.microsoft.com/office/drawing/2014/main" id="{F3C5301C-C043-E4DD-82E6-7E6774149E7B}"/>
              </a:ext>
            </a:extLst>
          </p:cNvPr>
          <p:cNvSpPr txBox="1"/>
          <p:nvPr/>
        </p:nvSpPr>
        <p:spPr>
          <a:xfrm>
            <a:off x="8255000" y="4279899"/>
            <a:ext cx="3429000" cy="558800"/>
          </a:xfrm>
          <a:prstGeom prst="rect">
            <a:avLst/>
          </a:prstGeom>
          <a:noFill/>
        </p:spPr>
        <p:txBody>
          <a:bodyPr vert="horz" wrap="square" lIns="0" tIns="0" rIns="0" bIns="0" rtlCol="0">
            <a:noAutofit/>
          </a:bodyPr>
          <a:lstStyle/>
          <a:p>
            <a:r>
              <a:rPr lang="en-US" sz="2800" b="1">
                <a:solidFill>
                  <a:srgbClr val="17212B"/>
                </a:solidFill>
                <a:latin typeface="Aptos" panose="020B0004020202020204" pitchFamily="34" charset="0"/>
              </a:rPr>
              <a:t>Preview feature</a:t>
            </a:r>
          </a:p>
        </p:txBody>
      </p:sp>
      <p:sp>
        <p:nvSpPr>
          <p:cNvPr id="15" name="TextBox 14">
            <a:extLst>
              <a:ext uri="{FF2B5EF4-FFF2-40B4-BE49-F238E27FC236}">
                <a16:creationId xmlns:a16="http://schemas.microsoft.com/office/drawing/2014/main" id="{69E89818-B922-4CA2-D00B-DD5C1E25B5BD}"/>
              </a:ext>
            </a:extLst>
          </p:cNvPr>
          <p:cNvSpPr txBox="1"/>
          <p:nvPr/>
        </p:nvSpPr>
        <p:spPr>
          <a:xfrm>
            <a:off x="8255000" y="4902199"/>
            <a:ext cx="3429000" cy="762000"/>
          </a:xfrm>
          <a:prstGeom prst="rect">
            <a:avLst/>
          </a:prstGeom>
          <a:noFill/>
        </p:spPr>
        <p:txBody>
          <a:bodyPr vert="horz" wrap="square" lIns="0" tIns="0" rIns="0" bIns="0" rtlCol="0">
            <a:noAutofit/>
          </a:bodyPr>
          <a:lstStyle/>
          <a:p>
            <a:r>
              <a:rPr lang="en-US" sz="1900">
                <a:solidFill>
                  <a:srgbClr val="52616B"/>
                </a:solidFill>
                <a:latin typeface="Aptos" panose="020B0004020202020204" pitchFamily="34" charset="0"/>
              </a:rPr>
              <a:t>Default behavior is unchanged</a:t>
            </a:r>
          </a:p>
        </p:txBody>
      </p:sp>
    </p:spTree>
    <p:extLst>
      <p:ext uri="{BB962C8B-B14F-4D97-AF65-F5344CB8AC3E}">
        <p14:creationId xmlns:p14="http://schemas.microsoft.com/office/powerpoint/2010/main" val="2288182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34150C-FA4B-00BD-F54C-647EB0454F85}"/>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2D8190-FDD7-65F8-3C48-C7351943E4F0}"/>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CHOOSE YOUR PATH</a:t>
            </a:r>
          </a:p>
        </p:txBody>
      </p:sp>
      <p:sp>
        <p:nvSpPr>
          <p:cNvPr id="4" name="TextBox 3">
            <a:extLst>
              <a:ext uri="{FF2B5EF4-FFF2-40B4-BE49-F238E27FC236}">
                <a16:creationId xmlns:a16="http://schemas.microsoft.com/office/drawing/2014/main" id="{ABC9F091-4146-CFE1-8429-4A1AB9E9B643}"/>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Four channels, two production choices</a:t>
            </a:r>
          </a:p>
        </p:txBody>
      </p:sp>
      <p:sp>
        <p:nvSpPr>
          <p:cNvPr id="5" name="Rectangle 4">
            <a:extLst>
              <a:ext uri="{FF2B5EF4-FFF2-40B4-BE49-F238E27FC236}">
                <a16:creationId xmlns:a16="http://schemas.microsoft.com/office/drawing/2014/main" id="{7DBADCDF-BB97-EBED-866C-86E18FD5A3B4}"/>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26F7AA-BAB8-F554-C623-269B04C33243}"/>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A71EC9C1-7728-C90B-6960-0C5869F5466A}"/>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02</a:t>
            </a:r>
          </a:p>
        </p:txBody>
      </p:sp>
      <p:sp>
        <p:nvSpPr>
          <p:cNvPr id="8" name="Rectangle 7">
            <a:extLst>
              <a:ext uri="{FF2B5EF4-FFF2-40B4-BE49-F238E27FC236}">
                <a16:creationId xmlns:a16="http://schemas.microsoft.com/office/drawing/2014/main" id="{2C55F96E-44C0-7096-9AD5-412F7FFBB561}"/>
              </a:ext>
            </a:extLst>
          </p:cNvPr>
          <p:cNvSpPr/>
          <p:nvPr/>
        </p:nvSpPr>
        <p:spPr>
          <a:xfrm>
            <a:off x="508000" y="1816100"/>
            <a:ext cx="11176000" cy="457200"/>
          </a:xfrm>
          <a:prstGeom prst="rect">
            <a:avLst/>
          </a:prstGeom>
          <a:solidFill>
            <a:srgbClr val="006D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C9D08B4-E42D-F010-0D6C-DFD7FF8F908B}"/>
              </a:ext>
            </a:extLst>
          </p:cNvPr>
          <p:cNvSpPr txBox="1"/>
          <p:nvPr/>
        </p:nvSpPr>
        <p:spPr>
          <a:xfrm>
            <a:off x="685800" y="1904999"/>
            <a:ext cx="3365500" cy="292100"/>
          </a:xfrm>
          <a:prstGeom prst="rect">
            <a:avLst/>
          </a:prstGeom>
          <a:noFill/>
        </p:spPr>
        <p:txBody>
          <a:bodyPr vert="horz" wrap="square" lIns="0" tIns="0" rIns="0" bIns="0" rtlCol="0">
            <a:noAutofit/>
          </a:bodyPr>
          <a:lstStyle/>
          <a:p>
            <a:r>
              <a:rPr lang="en-US" sz="1300" b="1">
                <a:solidFill>
                  <a:srgbClr val="FFFFFF"/>
                </a:solidFill>
                <a:latin typeface="Aptos" panose="020B0004020202020204" pitchFamily="34" charset="0"/>
              </a:rPr>
              <a:t>CHANNEL</a:t>
            </a:r>
          </a:p>
        </p:txBody>
      </p:sp>
      <p:sp>
        <p:nvSpPr>
          <p:cNvPr id="10" name="TextBox 9">
            <a:extLst>
              <a:ext uri="{FF2B5EF4-FFF2-40B4-BE49-F238E27FC236}">
                <a16:creationId xmlns:a16="http://schemas.microsoft.com/office/drawing/2014/main" id="{7B72FD00-08F1-8544-B282-539528CFA79C}"/>
              </a:ext>
            </a:extLst>
          </p:cNvPr>
          <p:cNvSpPr txBox="1"/>
          <p:nvPr/>
        </p:nvSpPr>
        <p:spPr>
          <a:xfrm>
            <a:off x="4216400" y="1904999"/>
            <a:ext cx="3175000" cy="292100"/>
          </a:xfrm>
          <a:prstGeom prst="rect">
            <a:avLst/>
          </a:prstGeom>
          <a:noFill/>
        </p:spPr>
        <p:txBody>
          <a:bodyPr vert="horz" wrap="square" lIns="0" tIns="0" rIns="0" bIns="0" rtlCol="0">
            <a:noAutofit/>
          </a:bodyPr>
          <a:lstStyle/>
          <a:p>
            <a:r>
              <a:rPr lang="en-US" sz="1300" b="1">
                <a:solidFill>
                  <a:srgbClr val="FFFFFF"/>
                </a:solidFill>
                <a:latin typeface="Aptos" panose="020B0004020202020204" pitchFamily="34" charset="0"/>
              </a:rPr>
              <a:t>USE IT FOR</a:t>
            </a:r>
          </a:p>
        </p:txBody>
      </p:sp>
      <p:sp>
        <p:nvSpPr>
          <p:cNvPr id="11" name="TextBox 10">
            <a:extLst>
              <a:ext uri="{FF2B5EF4-FFF2-40B4-BE49-F238E27FC236}">
                <a16:creationId xmlns:a16="http://schemas.microsoft.com/office/drawing/2014/main" id="{9A715357-FB7C-E35F-ABBE-7412EE0D318C}"/>
              </a:ext>
            </a:extLst>
          </p:cNvPr>
          <p:cNvSpPr txBox="1"/>
          <p:nvPr/>
        </p:nvSpPr>
        <p:spPr>
          <a:xfrm>
            <a:off x="7518400" y="1904999"/>
            <a:ext cx="3987800" cy="292100"/>
          </a:xfrm>
          <a:prstGeom prst="rect">
            <a:avLst/>
          </a:prstGeom>
          <a:noFill/>
        </p:spPr>
        <p:txBody>
          <a:bodyPr vert="horz" wrap="square" lIns="0" tIns="0" rIns="0" bIns="0" rtlCol="0">
            <a:noAutofit/>
          </a:bodyPr>
          <a:lstStyle/>
          <a:p>
            <a:r>
              <a:rPr lang="en-US" sz="1300" b="1">
                <a:solidFill>
                  <a:srgbClr val="FFFFFF"/>
                </a:solidFill>
                <a:latin typeface="Aptos" panose="020B0004020202020204" pitchFamily="34" charset="0"/>
              </a:rPr>
              <a:t>YOUR NEXT ACTION</a:t>
            </a:r>
          </a:p>
        </p:txBody>
      </p:sp>
      <p:sp>
        <p:nvSpPr>
          <p:cNvPr id="12" name="Rectangle 11">
            <a:extLst>
              <a:ext uri="{FF2B5EF4-FFF2-40B4-BE49-F238E27FC236}">
                <a16:creationId xmlns:a16="http://schemas.microsoft.com/office/drawing/2014/main" id="{C547F27B-84C2-775E-CA19-97AAAEECFA9A}"/>
              </a:ext>
            </a:extLst>
          </p:cNvPr>
          <p:cNvSpPr/>
          <p:nvPr/>
        </p:nvSpPr>
        <p:spPr>
          <a:xfrm>
            <a:off x="508000" y="2324100"/>
            <a:ext cx="11176000" cy="8382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99F70D9-8960-2836-3CC4-526B5F4D05B5}"/>
              </a:ext>
            </a:extLst>
          </p:cNvPr>
          <p:cNvSpPr txBox="1"/>
          <p:nvPr/>
        </p:nvSpPr>
        <p:spPr>
          <a:xfrm>
            <a:off x="685800" y="2451099"/>
            <a:ext cx="3378200" cy="660400"/>
          </a:xfrm>
          <a:prstGeom prst="rect">
            <a:avLst/>
          </a:prstGeom>
          <a:noFill/>
        </p:spPr>
        <p:txBody>
          <a:bodyPr vert="horz" wrap="square" lIns="0" tIns="0" rIns="0" bIns="0" rtlCol="0">
            <a:noAutofit/>
          </a:bodyPr>
          <a:lstStyle/>
          <a:p>
            <a:r>
              <a:rPr lang="en-US" sz="1900" b="1">
                <a:solidFill>
                  <a:srgbClr val="006DC7"/>
                </a:solidFill>
                <a:latin typeface="Aptos" panose="020B0004020202020204" pitchFamily="34" charset="0"/>
              </a:rPr>
              <a:t>default</a:t>
            </a:r>
          </a:p>
        </p:txBody>
      </p:sp>
      <p:sp>
        <p:nvSpPr>
          <p:cNvPr id="14" name="TextBox 13">
            <a:extLst>
              <a:ext uri="{FF2B5EF4-FFF2-40B4-BE49-F238E27FC236}">
                <a16:creationId xmlns:a16="http://schemas.microsoft.com/office/drawing/2014/main" id="{B027ADFD-D4A3-64A4-D9D4-0E2DE189FCB2}"/>
              </a:ext>
            </a:extLst>
          </p:cNvPr>
          <p:cNvSpPr txBox="1"/>
          <p:nvPr/>
        </p:nvSpPr>
        <p:spPr>
          <a:xfrm>
            <a:off x="4216400" y="2451099"/>
            <a:ext cx="3098800" cy="660400"/>
          </a:xfrm>
          <a:prstGeom prst="rect">
            <a:avLst/>
          </a:prstGeom>
          <a:noFill/>
        </p:spPr>
        <p:txBody>
          <a:bodyPr vert="horz" wrap="square" lIns="0" tIns="0" rIns="0" bIns="0" rtlCol="0">
            <a:noAutofit/>
          </a:bodyPr>
          <a:lstStyle/>
          <a:p>
            <a:r>
              <a:rPr lang="en-US" sz="1900">
                <a:solidFill>
                  <a:srgbClr val="17212B"/>
                </a:solidFill>
                <a:latin typeface="Aptos" panose="020B0004020202020204" pitchFamily="34" charset="0"/>
              </a:rPr>
              <a:t>Stable production workloads</a:t>
            </a:r>
          </a:p>
        </p:txBody>
      </p:sp>
      <p:sp>
        <p:nvSpPr>
          <p:cNvPr id="15" name="TextBox 14">
            <a:extLst>
              <a:ext uri="{FF2B5EF4-FFF2-40B4-BE49-F238E27FC236}">
                <a16:creationId xmlns:a16="http://schemas.microsoft.com/office/drawing/2014/main" id="{E843E105-CC0D-8DF1-5A37-94765CAC489E}"/>
              </a:ext>
            </a:extLst>
          </p:cNvPr>
          <p:cNvSpPr txBox="1"/>
          <p:nvPr/>
        </p:nvSpPr>
        <p:spPr>
          <a:xfrm>
            <a:off x="7518400" y="2451099"/>
            <a:ext cx="3987800" cy="660400"/>
          </a:xfrm>
          <a:prstGeom prst="rect">
            <a:avLst/>
          </a:prstGeom>
          <a:noFill/>
        </p:spPr>
        <p:txBody>
          <a:bodyPr vert="horz" wrap="square" lIns="0" tIns="0" rIns="0" bIns="0" rtlCol="0">
            <a:noAutofit/>
          </a:bodyPr>
          <a:lstStyle/>
          <a:p>
            <a:r>
              <a:rPr lang="en-US">
                <a:solidFill>
                  <a:srgbClr val="17212B"/>
                </a:solidFill>
                <a:latin typeface="Aptos" panose="020B0004020202020204" pitchFamily="34" charset="0"/>
              </a:rPr>
              <a:t>Test upcoming changes in earlyAccess.</a:t>
            </a:r>
          </a:p>
        </p:txBody>
      </p:sp>
      <p:sp>
        <p:nvSpPr>
          <p:cNvPr id="16" name="Rectangle 15">
            <a:extLst>
              <a:ext uri="{FF2B5EF4-FFF2-40B4-BE49-F238E27FC236}">
                <a16:creationId xmlns:a16="http://schemas.microsoft.com/office/drawing/2014/main" id="{6BFA6399-0177-33BD-F742-F73C16BAA9A7}"/>
              </a:ext>
            </a:extLst>
          </p:cNvPr>
          <p:cNvSpPr/>
          <p:nvPr/>
        </p:nvSpPr>
        <p:spPr>
          <a:xfrm>
            <a:off x="508000" y="3213100"/>
            <a:ext cx="11176000" cy="838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CE8C3D6-34C4-5DB9-1CC4-605BCC874AF8}"/>
              </a:ext>
            </a:extLst>
          </p:cNvPr>
          <p:cNvSpPr txBox="1"/>
          <p:nvPr/>
        </p:nvSpPr>
        <p:spPr>
          <a:xfrm>
            <a:off x="685800" y="3340099"/>
            <a:ext cx="3378200" cy="660400"/>
          </a:xfrm>
          <a:prstGeom prst="rect">
            <a:avLst/>
          </a:prstGeom>
          <a:noFill/>
        </p:spPr>
        <p:txBody>
          <a:bodyPr vert="horz" wrap="square" lIns="0" tIns="0" rIns="0" bIns="0" rtlCol="0">
            <a:noAutofit/>
          </a:bodyPr>
          <a:lstStyle/>
          <a:p>
            <a:r>
              <a:rPr lang="en-US" sz="1900" b="1">
                <a:solidFill>
                  <a:srgbClr val="006DC7"/>
                </a:solidFill>
                <a:latin typeface="Aptos" panose="020B0004020202020204" pitchFamily="34" charset="0"/>
              </a:rPr>
              <a:t>earlyAccess</a:t>
            </a:r>
          </a:p>
        </p:txBody>
      </p:sp>
      <p:sp>
        <p:nvSpPr>
          <p:cNvPr id="18" name="TextBox 17">
            <a:extLst>
              <a:ext uri="{FF2B5EF4-FFF2-40B4-BE49-F238E27FC236}">
                <a16:creationId xmlns:a16="http://schemas.microsoft.com/office/drawing/2014/main" id="{CA151BB0-55E1-63C1-90E5-631780636F20}"/>
              </a:ext>
            </a:extLst>
          </p:cNvPr>
          <p:cNvSpPr txBox="1"/>
          <p:nvPr/>
        </p:nvSpPr>
        <p:spPr>
          <a:xfrm>
            <a:off x="4216400" y="3340099"/>
            <a:ext cx="3098800" cy="660400"/>
          </a:xfrm>
          <a:prstGeom prst="rect">
            <a:avLst/>
          </a:prstGeom>
          <a:noFill/>
        </p:spPr>
        <p:txBody>
          <a:bodyPr vert="horz" wrap="square" lIns="0" tIns="0" rIns="0" bIns="0" rtlCol="0">
            <a:noAutofit/>
          </a:bodyPr>
          <a:lstStyle/>
          <a:p>
            <a:r>
              <a:rPr lang="en-US" sz="1900">
                <a:solidFill>
                  <a:srgbClr val="17212B"/>
                </a:solidFill>
                <a:latin typeface="Aptos" panose="020B0004020202020204" pitchFamily="34" charset="0"/>
              </a:rPr>
              <a:t>Upcoming regular updates</a:t>
            </a:r>
          </a:p>
        </p:txBody>
      </p:sp>
      <p:sp>
        <p:nvSpPr>
          <p:cNvPr id="19" name="TextBox 18">
            <a:extLst>
              <a:ext uri="{FF2B5EF4-FFF2-40B4-BE49-F238E27FC236}">
                <a16:creationId xmlns:a16="http://schemas.microsoft.com/office/drawing/2014/main" id="{FB96EE38-000F-9C72-9426-D949431BB165}"/>
              </a:ext>
            </a:extLst>
          </p:cNvPr>
          <p:cNvSpPr txBox="1"/>
          <p:nvPr/>
        </p:nvSpPr>
        <p:spPr>
          <a:xfrm>
            <a:off x="7518400" y="3340099"/>
            <a:ext cx="3987800" cy="660400"/>
          </a:xfrm>
          <a:prstGeom prst="rect">
            <a:avLst/>
          </a:prstGeom>
          <a:noFill/>
        </p:spPr>
        <p:txBody>
          <a:bodyPr vert="horz" wrap="square" lIns="0" tIns="0" rIns="0" bIns="0" rtlCol="0">
            <a:noAutofit/>
          </a:bodyPr>
          <a:lstStyle/>
          <a:p>
            <a:r>
              <a:rPr lang="en-US">
                <a:solidFill>
                  <a:srgbClr val="17212B"/>
                </a:solidFill>
                <a:latin typeface="Aptos" panose="020B0004020202020204" pitchFamily="34" charset="0"/>
              </a:rPr>
              <a:t>Run representative tests before promotion.</a:t>
            </a:r>
          </a:p>
        </p:txBody>
      </p:sp>
      <p:sp>
        <p:nvSpPr>
          <p:cNvPr id="20" name="Rectangle 19">
            <a:extLst>
              <a:ext uri="{FF2B5EF4-FFF2-40B4-BE49-F238E27FC236}">
                <a16:creationId xmlns:a16="http://schemas.microsoft.com/office/drawing/2014/main" id="{BAD92942-FB7B-B651-49E1-714E30E48B05}"/>
              </a:ext>
            </a:extLst>
          </p:cNvPr>
          <p:cNvSpPr/>
          <p:nvPr/>
        </p:nvSpPr>
        <p:spPr>
          <a:xfrm>
            <a:off x="508000" y="4102100"/>
            <a:ext cx="11176000" cy="8382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8A7F6DA-B6EB-EC43-994C-B8BCE6CAF0E7}"/>
              </a:ext>
            </a:extLst>
          </p:cNvPr>
          <p:cNvSpPr txBox="1"/>
          <p:nvPr/>
        </p:nvSpPr>
        <p:spPr>
          <a:xfrm>
            <a:off x="685800" y="4229099"/>
            <a:ext cx="3378200" cy="660400"/>
          </a:xfrm>
          <a:prstGeom prst="rect">
            <a:avLst/>
          </a:prstGeom>
          <a:noFill/>
        </p:spPr>
        <p:txBody>
          <a:bodyPr vert="horz" wrap="square" lIns="0" tIns="0" rIns="0" bIns="0" rtlCol="0">
            <a:noAutofit/>
          </a:bodyPr>
          <a:lstStyle/>
          <a:p>
            <a:r>
              <a:rPr lang="en-US" sz="1900" b="1">
                <a:solidFill>
                  <a:srgbClr val="006DC7"/>
                </a:solidFill>
                <a:latin typeface="Aptos" panose="020B0004020202020204" pitchFamily="34" charset="0"/>
              </a:rPr>
              <a:t>compliance</a:t>
            </a:r>
          </a:p>
        </p:txBody>
      </p:sp>
      <p:sp>
        <p:nvSpPr>
          <p:cNvPr id="22" name="TextBox 21">
            <a:extLst>
              <a:ext uri="{FF2B5EF4-FFF2-40B4-BE49-F238E27FC236}">
                <a16:creationId xmlns:a16="http://schemas.microsoft.com/office/drawing/2014/main" id="{FC2335E6-6DAB-11C9-FDBE-4A1BAFAA3F27}"/>
              </a:ext>
            </a:extLst>
          </p:cNvPr>
          <p:cNvSpPr txBox="1"/>
          <p:nvPr/>
        </p:nvSpPr>
        <p:spPr>
          <a:xfrm>
            <a:off x="4216400" y="4229099"/>
            <a:ext cx="3098800" cy="660400"/>
          </a:xfrm>
          <a:prstGeom prst="rect">
            <a:avLst/>
          </a:prstGeom>
          <a:noFill/>
        </p:spPr>
        <p:txBody>
          <a:bodyPr vert="horz" wrap="square" lIns="0" tIns="0" rIns="0" bIns="0" rtlCol="0">
            <a:noAutofit/>
          </a:bodyPr>
          <a:lstStyle/>
          <a:p>
            <a:r>
              <a:rPr lang="en-US" sz="1900">
                <a:solidFill>
                  <a:srgbClr val="17212B"/>
                </a:solidFill>
                <a:latin typeface="Aptos" panose="020B0004020202020204" pitchFamily="34" charset="0"/>
              </a:rPr>
              <a:t>Production + periodic security fixes</a:t>
            </a:r>
          </a:p>
        </p:txBody>
      </p:sp>
      <p:sp>
        <p:nvSpPr>
          <p:cNvPr id="23" name="TextBox 22">
            <a:extLst>
              <a:ext uri="{FF2B5EF4-FFF2-40B4-BE49-F238E27FC236}">
                <a16:creationId xmlns:a16="http://schemas.microsoft.com/office/drawing/2014/main" id="{6263D2B4-6276-97A2-A9C3-6D3067CC5966}"/>
              </a:ext>
            </a:extLst>
          </p:cNvPr>
          <p:cNvSpPr txBox="1"/>
          <p:nvPr/>
        </p:nvSpPr>
        <p:spPr>
          <a:xfrm>
            <a:off x="7518400" y="4229099"/>
            <a:ext cx="3987800" cy="660400"/>
          </a:xfrm>
          <a:prstGeom prst="rect">
            <a:avLst/>
          </a:prstGeom>
          <a:noFill/>
        </p:spPr>
        <p:txBody>
          <a:bodyPr vert="horz" wrap="square" lIns="0" tIns="0" rIns="0" bIns="0" rtlCol="0">
            <a:noAutofit/>
          </a:bodyPr>
          <a:lstStyle/>
          <a:p>
            <a:r>
              <a:rPr lang="en-US">
                <a:solidFill>
                  <a:srgbClr val="17212B"/>
                </a:solidFill>
                <a:latin typeface="Aptos" panose="020B0004020202020204" pitchFamily="34" charset="0"/>
              </a:rPr>
              <a:t>Test first; republish after promotion.</a:t>
            </a:r>
          </a:p>
        </p:txBody>
      </p:sp>
      <p:sp>
        <p:nvSpPr>
          <p:cNvPr id="24" name="Rectangle 23">
            <a:extLst>
              <a:ext uri="{FF2B5EF4-FFF2-40B4-BE49-F238E27FC236}">
                <a16:creationId xmlns:a16="http://schemas.microsoft.com/office/drawing/2014/main" id="{AA669211-2A2D-05EA-817C-68C9C326BC3C}"/>
              </a:ext>
            </a:extLst>
          </p:cNvPr>
          <p:cNvSpPr/>
          <p:nvPr/>
        </p:nvSpPr>
        <p:spPr>
          <a:xfrm>
            <a:off x="508000" y="4991100"/>
            <a:ext cx="11176000" cy="8382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46A25FF-9921-728E-46D0-8EB3687EE9E4}"/>
              </a:ext>
            </a:extLst>
          </p:cNvPr>
          <p:cNvSpPr txBox="1"/>
          <p:nvPr/>
        </p:nvSpPr>
        <p:spPr>
          <a:xfrm>
            <a:off x="685800" y="5118099"/>
            <a:ext cx="3378200" cy="660400"/>
          </a:xfrm>
          <a:prstGeom prst="rect">
            <a:avLst/>
          </a:prstGeom>
          <a:noFill/>
        </p:spPr>
        <p:txBody>
          <a:bodyPr vert="horz" wrap="square" lIns="0" tIns="0" rIns="0" bIns="0" rtlCol="0">
            <a:noAutofit/>
          </a:bodyPr>
          <a:lstStyle/>
          <a:p>
            <a:r>
              <a:rPr lang="en-US" sz="1900" b="1">
                <a:solidFill>
                  <a:srgbClr val="006DC7"/>
                </a:solidFill>
                <a:latin typeface="Aptos" panose="020B0004020202020204" pitchFamily="34" charset="0"/>
              </a:rPr>
              <a:t>complianceEarlyAccess</a:t>
            </a:r>
          </a:p>
        </p:txBody>
      </p:sp>
      <p:sp>
        <p:nvSpPr>
          <p:cNvPr id="26" name="TextBox 25">
            <a:extLst>
              <a:ext uri="{FF2B5EF4-FFF2-40B4-BE49-F238E27FC236}">
                <a16:creationId xmlns:a16="http://schemas.microsoft.com/office/drawing/2014/main" id="{1EF9A508-7EDF-5D2B-D0A9-121835705A12}"/>
              </a:ext>
            </a:extLst>
          </p:cNvPr>
          <p:cNvSpPr txBox="1"/>
          <p:nvPr/>
        </p:nvSpPr>
        <p:spPr>
          <a:xfrm>
            <a:off x="4216400" y="5118099"/>
            <a:ext cx="3098800" cy="660400"/>
          </a:xfrm>
          <a:prstGeom prst="rect">
            <a:avLst/>
          </a:prstGeom>
          <a:noFill/>
        </p:spPr>
        <p:txBody>
          <a:bodyPr vert="horz" wrap="square" lIns="0" tIns="0" rIns="0" bIns="0" rtlCol="0">
            <a:noAutofit/>
          </a:bodyPr>
          <a:lstStyle/>
          <a:p>
            <a:r>
              <a:rPr lang="en-US" sz="1900">
                <a:solidFill>
                  <a:srgbClr val="17212B"/>
                </a:solidFill>
                <a:latin typeface="Aptos" panose="020B0004020202020204" pitchFamily="34" charset="0"/>
              </a:rPr>
              <a:t>Upcoming package security fixes</a:t>
            </a:r>
          </a:p>
        </p:txBody>
      </p:sp>
      <p:sp>
        <p:nvSpPr>
          <p:cNvPr id="27" name="TextBox 26">
            <a:extLst>
              <a:ext uri="{FF2B5EF4-FFF2-40B4-BE49-F238E27FC236}">
                <a16:creationId xmlns:a16="http://schemas.microsoft.com/office/drawing/2014/main" id="{276513EA-C36D-74CB-F602-DA9D818D2728}"/>
              </a:ext>
            </a:extLst>
          </p:cNvPr>
          <p:cNvSpPr txBox="1"/>
          <p:nvPr/>
        </p:nvSpPr>
        <p:spPr>
          <a:xfrm>
            <a:off x="7518400" y="5118099"/>
            <a:ext cx="3987800" cy="660400"/>
          </a:xfrm>
          <a:prstGeom prst="rect">
            <a:avLst/>
          </a:prstGeom>
          <a:noFill/>
        </p:spPr>
        <p:txBody>
          <a:bodyPr vert="horz" wrap="square" lIns="0" tIns="0" rIns="0" bIns="0" rtlCol="0">
            <a:noAutofit/>
          </a:bodyPr>
          <a:lstStyle/>
          <a:p>
            <a:r>
              <a:rPr lang="en-US">
                <a:solidFill>
                  <a:srgbClr val="17212B"/>
                </a:solidFill>
                <a:latin typeface="Aptos" panose="020B0004020202020204" pitchFamily="34" charset="0"/>
              </a:rPr>
              <a:t>Test packages and library snapshots.</a:t>
            </a:r>
          </a:p>
        </p:txBody>
      </p:sp>
      <p:sp>
        <p:nvSpPr>
          <p:cNvPr id="28" name="TextBox 27">
            <a:extLst>
              <a:ext uri="{FF2B5EF4-FFF2-40B4-BE49-F238E27FC236}">
                <a16:creationId xmlns:a16="http://schemas.microsoft.com/office/drawing/2014/main" id="{F67E07FC-00D5-8308-2A1A-F2D49027E6E0}"/>
              </a:ext>
            </a:extLst>
          </p:cNvPr>
          <p:cNvSpPr txBox="1"/>
          <p:nvPr/>
        </p:nvSpPr>
        <p:spPr>
          <a:xfrm>
            <a:off x="508000" y="5968999"/>
            <a:ext cx="11176000" cy="342900"/>
          </a:xfrm>
          <a:prstGeom prst="rect">
            <a:avLst/>
          </a:prstGeom>
          <a:noFill/>
        </p:spPr>
        <p:txBody>
          <a:bodyPr vert="horz" wrap="square" lIns="0" tIns="0" rIns="0" bIns="0" rtlCol="0">
            <a:noAutofit/>
          </a:bodyPr>
          <a:lstStyle/>
          <a:p>
            <a:r>
              <a:rPr lang="en-US" b="1">
                <a:solidFill>
                  <a:srgbClr val="007F78"/>
                </a:solidFill>
                <a:latin typeface="Aptos" panose="020B0004020202020204" pitchFamily="34" charset="0"/>
              </a:rPr>
              <a:t>No channel configured? The pool uses default.</a:t>
            </a:r>
          </a:p>
        </p:txBody>
      </p:sp>
    </p:spTree>
    <p:extLst>
      <p:ext uri="{BB962C8B-B14F-4D97-AF65-F5344CB8AC3E}">
        <p14:creationId xmlns:p14="http://schemas.microsoft.com/office/powerpoint/2010/main" val="588408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854263-BCAC-420E-87FF-AC739A9D0BAB}"/>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BDFAA7A-E122-AD9D-AA55-3D227C96A5DF}"/>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SERVICING MODEL</a:t>
            </a:r>
          </a:p>
        </p:txBody>
      </p:sp>
      <p:sp>
        <p:nvSpPr>
          <p:cNvPr id="4" name="TextBox 3">
            <a:extLst>
              <a:ext uri="{FF2B5EF4-FFF2-40B4-BE49-F238E27FC236}">
                <a16:creationId xmlns:a16="http://schemas.microsoft.com/office/drawing/2014/main" id="{1CD99450-B6C9-BFEC-3B47-3E509B23DC25}"/>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Three update paths</a:t>
            </a:r>
          </a:p>
        </p:txBody>
      </p:sp>
      <p:sp>
        <p:nvSpPr>
          <p:cNvPr id="5" name="Rectangle 4">
            <a:extLst>
              <a:ext uri="{FF2B5EF4-FFF2-40B4-BE49-F238E27FC236}">
                <a16:creationId xmlns:a16="http://schemas.microsoft.com/office/drawing/2014/main" id="{2DE7C7A0-9E19-0007-25C4-316A373F52DC}"/>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5FD7726-624C-8397-E4BA-CEC543124BFB}"/>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9A5641D2-FEB1-531F-060E-BB8307867D2B}"/>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03</a:t>
            </a:r>
          </a:p>
        </p:txBody>
      </p:sp>
      <p:sp>
        <p:nvSpPr>
          <p:cNvPr id="8" name="Rectangle 7">
            <a:extLst>
              <a:ext uri="{FF2B5EF4-FFF2-40B4-BE49-F238E27FC236}">
                <a16:creationId xmlns:a16="http://schemas.microsoft.com/office/drawing/2014/main" id="{B02D32D0-7F53-8B81-418D-E7CF63E0D43A}"/>
              </a:ext>
            </a:extLst>
          </p:cNvPr>
          <p:cNvSpPr/>
          <p:nvPr/>
        </p:nvSpPr>
        <p:spPr>
          <a:xfrm>
            <a:off x="508000" y="1816100"/>
            <a:ext cx="63500" cy="1193800"/>
          </a:xfrm>
          <a:prstGeom prst="rect">
            <a:avLst/>
          </a:prstGeom>
          <a:solidFill>
            <a:srgbClr val="006DC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CB7EA4-A5FD-7741-7DDE-76596285C835}"/>
              </a:ext>
            </a:extLst>
          </p:cNvPr>
          <p:cNvSpPr txBox="1"/>
          <p:nvPr/>
        </p:nvSpPr>
        <p:spPr>
          <a:xfrm>
            <a:off x="749300" y="1930399"/>
            <a:ext cx="2819400" cy="355600"/>
          </a:xfrm>
          <a:prstGeom prst="rect">
            <a:avLst/>
          </a:prstGeom>
          <a:noFill/>
        </p:spPr>
        <p:txBody>
          <a:bodyPr vert="horz" wrap="square" lIns="0" tIns="0" rIns="0" bIns="0" rtlCol="0">
            <a:noAutofit/>
          </a:bodyPr>
          <a:lstStyle/>
          <a:p>
            <a:r>
              <a:rPr lang="en-US" sz="1600" b="1">
                <a:solidFill>
                  <a:srgbClr val="006DC7"/>
                </a:solidFill>
                <a:latin typeface="Aptos" panose="020B0004020202020204" pitchFamily="34" charset="0"/>
              </a:rPr>
              <a:t>MONTHLY</a:t>
            </a:r>
          </a:p>
        </p:txBody>
      </p:sp>
      <p:sp>
        <p:nvSpPr>
          <p:cNvPr id="10" name="TextBox 9">
            <a:extLst>
              <a:ext uri="{FF2B5EF4-FFF2-40B4-BE49-F238E27FC236}">
                <a16:creationId xmlns:a16="http://schemas.microsoft.com/office/drawing/2014/main" id="{C84CBFBF-48D9-0892-F279-5B805595DB50}"/>
              </a:ext>
            </a:extLst>
          </p:cNvPr>
          <p:cNvSpPr txBox="1"/>
          <p:nvPr/>
        </p:nvSpPr>
        <p:spPr>
          <a:xfrm>
            <a:off x="3721100" y="1841499"/>
            <a:ext cx="7823200" cy="444500"/>
          </a:xfrm>
          <a:prstGeom prst="rect">
            <a:avLst/>
          </a:prstGeom>
          <a:noFill/>
        </p:spPr>
        <p:txBody>
          <a:bodyPr vert="horz" wrap="square" lIns="0" tIns="0" rIns="0" bIns="0" rtlCol="0">
            <a:noAutofit/>
          </a:bodyPr>
          <a:lstStyle/>
          <a:p>
            <a:r>
              <a:rPr lang="en-US" sz="2400" b="1">
                <a:solidFill>
                  <a:srgbClr val="17212B"/>
                </a:solidFill>
                <a:latin typeface="Aptos" panose="020B0004020202020204" pitchFamily="34" charset="0"/>
              </a:rPr>
              <a:t>Regular code updates</a:t>
            </a:r>
          </a:p>
        </p:txBody>
      </p:sp>
      <p:sp>
        <p:nvSpPr>
          <p:cNvPr id="11" name="TextBox 10">
            <a:extLst>
              <a:ext uri="{FF2B5EF4-FFF2-40B4-BE49-F238E27FC236}">
                <a16:creationId xmlns:a16="http://schemas.microsoft.com/office/drawing/2014/main" id="{C0A0FA47-D472-24B8-3E7E-5E88ABFF9CDE}"/>
              </a:ext>
            </a:extLst>
          </p:cNvPr>
          <p:cNvSpPr txBox="1"/>
          <p:nvPr/>
        </p:nvSpPr>
        <p:spPr>
          <a:xfrm>
            <a:off x="3721100" y="2311399"/>
            <a:ext cx="7823200" cy="6858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Upcoming code is tested in both Early Access channels, then reaches default and compliance.</a:t>
            </a:r>
          </a:p>
        </p:txBody>
      </p:sp>
      <p:sp>
        <p:nvSpPr>
          <p:cNvPr id="12" name="Rectangle 11">
            <a:extLst>
              <a:ext uri="{FF2B5EF4-FFF2-40B4-BE49-F238E27FC236}">
                <a16:creationId xmlns:a16="http://schemas.microsoft.com/office/drawing/2014/main" id="{EEFEC4A5-B0C4-B95C-0BA3-BB3668334C3F}"/>
              </a:ext>
            </a:extLst>
          </p:cNvPr>
          <p:cNvSpPr/>
          <p:nvPr/>
        </p:nvSpPr>
        <p:spPr>
          <a:xfrm>
            <a:off x="508000" y="3149600"/>
            <a:ext cx="63500" cy="1193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381BCBD-8F03-51E5-A011-34683846D771}"/>
              </a:ext>
            </a:extLst>
          </p:cNvPr>
          <p:cNvSpPr txBox="1"/>
          <p:nvPr/>
        </p:nvSpPr>
        <p:spPr>
          <a:xfrm>
            <a:off x="749300" y="3263899"/>
            <a:ext cx="2819400" cy="355600"/>
          </a:xfrm>
          <a:prstGeom prst="rect">
            <a:avLst/>
          </a:prstGeom>
          <a:noFill/>
        </p:spPr>
        <p:txBody>
          <a:bodyPr vert="horz" wrap="square" lIns="0" tIns="0" rIns="0" bIns="0" rtlCol="0">
            <a:noAutofit/>
          </a:bodyPr>
          <a:lstStyle/>
          <a:p>
            <a:r>
              <a:rPr lang="en-US" sz="1600" b="1">
                <a:solidFill>
                  <a:srgbClr val="007F78"/>
                </a:solidFill>
                <a:latin typeface="Aptos" panose="020B0004020202020204" pitchFamily="34" charset="0"/>
              </a:rPr>
              <a:t>SIX-MONTH CYCLE</a:t>
            </a:r>
          </a:p>
        </p:txBody>
      </p:sp>
      <p:sp>
        <p:nvSpPr>
          <p:cNvPr id="14" name="TextBox 13">
            <a:extLst>
              <a:ext uri="{FF2B5EF4-FFF2-40B4-BE49-F238E27FC236}">
                <a16:creationId xmlns:a16="http://schemas.microsoft.com/office/drawing/2014/main" id="{55274B8A-A866-ED77-752E-7BE22AD25EFD}"/>
              </a:ext>
            </a:extLst>
          </p:cNvPr>
          <p:cNvSpPr txBox="1"/>
          <p:nvPr/>
        </p:nvSpPr>
        <p:spPr>
          <a:xfrm>
            <a:off x="3721100" y="3174999"/>
            <a:ext cx="7823200" cy="444500"/>
          </a:xfrm>
          <a:prstGeom prst="rect">
            <a:avLst/>
          </a:prstGeom>
          <a:noFill/>
        </p:spPr>
        <p:txBody>
          <a:bodyPr vert="horz" wrap="square" lIns="0" tIns="0" rIns="0" bIns="0" rtlCol="0">
            <a:noAutofit/>
          </a:bodyPr>
          <a:lstStyle/>
          <a:p>
            <a:r>
              <a:rPr lang="en-US" sz="2400" b="1">
                <a:solidFill>
                  <a:srgbClr val="17212B"/>
                </a:solidFill>
                <a:latin typeface="Aptos" panose="020B0004020202020204" pitchFamily="34" charset="0"/>
              </a:rPr>
              <a:t>Routine package security fixes</a:t>
            </a:r>
          </a:p>
        </p:txBody>
      </p:sp>
      <p:sp>
        <p:nvSpPr>
          <p:cNvPr id="15" name="TextBox 14">
            <a:extLst>
              <a:ext uri="{FF2B5EF4-FFF2-40B4-BE49-F238E27FC236}">
                <a16:creationId xmlns:a16="http://schemas.microsoft.com/office/drawing/2014/main" id="{56BE0419-11B4-DCE3-5EFB-A8ED10384AFA}"/>
              </a:ext>
            </a:extLst>
          </p:cNvPr>
          <p:cNvSpPr txBox="1"/>
          <p:nvPr/>
        </p:nvSpPr>
        <p:spPr>
          <a:xfrm>
            <a:off x="3721100" y="3644899"/>
            <a:ext cx="7823200" cy="6858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Added monthly to complianceEarlyAccess; bundled into compliance every six months.</a:t>
            </a:r>
          </a:p>
        </p:txBody>
      </p:sp>
      <p:sp>
        <p:nvSpPr>
          <p:cNvPr id="16" name="Rectangle 15">
            <a:extLst>
              <a:ext uri="{FF2B5EF4-FFF2-40B4-BE49-F238E27FC236}">
                <a16:creationId xmlns:a16="http://schemas.microsoft.com/office/drawing/2014/main" id="{D16248ED-694F-7FAC-1DA5-E4178DFEEA8F}"/>
              </a:ext>
            </a:extLst>
          </p:cNvPr>
          <p:cNvSpPr/>
          <p:nvPr/>
        </p:nvSpPr>
        <p:spPr>
          <a:xfrm>
            <a:off x="508000" y="4483100"/>
            <a:ext cx="63500" cy="1193800"/>
          </a:xfrm>
          <a:prstGeom prst="rect">
            <a:avLst/>
          </a:prstGeom>
          <a:solidFill>
            <a:srgbClr val="BD183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AD870E-4FAD-54BA-37E5-A18B90C27816}"/>
              </a:ext>
            </a:extLst>
          </p:cNvPr>
          <p:cNvSpPr txBox="1"/>
          <p:nvPr/>
        </p:nvSpPr>
        <p:spPr>
          <a:xfrm>
            <a:off x="749300" y="4597399"/>
            <a:ext cx="2819400" cy="355600"/>
          </a:xfrm>
          <a:prstGeom prst="rect">
            <a:avLst/>
          </a:prstGeom>
          <a:noFill/>
        </p:spPr>
        <p:txBody>
          <a:bodyPr vert="horz" wrap="square" lIns="0" tIns="0" rIns="0" bIns="0" rtlCol="0">
            <a:noAutofit/>
          </a:bodyPr>
          <a:lstStyle/>
          <a:p>
            <a:r>
              <a:rPr lang="en-US" sz="1600" b="1">
                <a:solidFill>
                  <a:srgbClr val="BD1833"/>
                </a:solidFill>
                <a:latin typeface="Aptos" panose="020B0004020202020204" pitchFamily="34" charset="0"/>
              </a:rPr>
              <a:t>ANY TIME</a:t>
            </a:r>
          </a:p>
        </p:txBody>
      </p:sp>
      <p:sp>
        <p:nvSpPr>
          <p:cNvPr id="18" name="TextBox 17">
            <a:extLst>
              <a:ext uri="{FF2B5EF4-FFF2-40B4-BE49-F238E27FC236}">
                <a16:creationId xmlns:a16="http://schemas.microsoft.com/office/drawing/2014/main" id="{A27D9D29-3F7A-0739-AB53-5B32347720DB}"/>
              </a:ext>
            </a:extLst>
          </p:cNvPr>
          <p:cNvSpPr txBox="1"/>
          <p:nvPr/>
        </p:nvSpPr>
        <p:spPr>
          <a:xfrm>
            <a:off x="3721100" y="4508499"/>
            <a:ext cx="7823200" cy="444500"/>
          </a:xfrm>
          <a:prstGeom prst="rect">
            <a:avLst/>
          </a:prstGeom>
          <a:noFill/>
        </p:spPr>
        <p:txBody>
          <a:bodyPr vert="horz" wrap="square" lIns="0" tIns="0" rIns="0" bIns="0" rtlCol="0">
            <a:noAutofit/>
          </a:bodyPr>
          <a:lstStyle/>
          <a:p>
            <a:r>
              <a:rPr lang="en-US" sz="2400" b="1">
                <a:solidFill>
                  <a:srgbClr val="17212B"/>
                </a:solidFill>
                <a:latin typeface="Aptos" panose="020B0004020202020204" pitchFamily="34" charset="0"/>
              </a:rPr>
              <a:t>Urgent, exploitable security issues</a:t>
            </a:r>
          </a:p>
        </p:txBody>
      </p:sp>
      <p:sp>
        <p:nvSpPr>
          <p:cNvPr id="19" name="TextBox 18">
            <a:extLst>
              <a:ext uri="{FF2B5EF4-FFF2-40B4-BE49-F238E27FC236}">
                <a16:creationId xmlns:a16="http://schemas.microsoft.com/office/drawing/2014/main" id="{318EB2DE-9CFD-3E28-E4A2-164A4591BFE4}"/>
              </a:ext>
            </a:extLst>
          </p:cNvPr>
          <p:cNvSpPr txBox="1"/>
          <p:nvPr/>
        </p:nvSpPr>
        <p:spPr>
          <a:xfrm>
            <a:off x="3721100" y="4978399"/>
            <a:ext cx="7823200" cy="6858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High-priority fixes reach all affected channels as soon as possible, outside the normal schedule.</a:t>
            </a:r>
          </a:p>
        </p:txBody>
      </p:sp>
      <p:sp>
        <p:nvSpPr>
          <p:cNvPr id="20" name="TextBox 19">
            <a:extLst>
              <a:ext uri="{FF2B5EF4-FFF2-40B4-BE49-F238E27FC236}">
                <a16:creationId xmlns:a16="http://schemas.microsoft.com/office/drawing/2014/main" id="{D09457D4-7EEF-5D48-516B-59377D7B79E8}"/>
              </a:ext>
            </a:extLst>
          </p:cNvPr>
          <p:cNvSpPr txBox="1"/>
          <p:nvPr/>
        </p:nvSpPr>
        <p:spPr>
          <a:xfrm>
            <a:off x="508000" y="5930899"/>
            <a:ext cx="11176000" cy="381000"/>
          </a:xfrm>
          <a:prstGeom prst="rect">
            <a:avLst/>
          </a:prstGeom>
          <a:noFill/>
        </p:spPr>
        <p:txBody>
          <a:bodyPr vert="horz" wrap="square" lIns="0" tIns="0" rIns="0" bIns="0" rtlCol="0">
            <a:noAutofit/>
          </a:bodyPr>
          <a:lstStyle/>
          <a:p>
            <a:r>
              <a:rPr lang="en-US" b="1">
                <a:solidFill>
                  <a:srgbClr val="17212B"/>
                </a:solidFill>
                <a:latin typeface="Aptos" panose="020B0004020202020204" pitchFamily="34" charset="0"/>
              </a:rPr>
              <a:t>default and earlyAccess do not receive routine non-exploitable security fixes.</a:t>
            </a:r>
          </a:p>
        </p:txBody>
      </p:sp>
    </p:spTree>
    <p:extLst>
      <p:ext uri="{BB962C8B-B14F-4D97-AF65-F5344CB8AC3E}">
        <p14:creationId xmlns:p14="http://schemas.microsoft.com/office/powerpoint/2010/main" val="2598459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FF5F3E-B3A3-EB2C-BBB0-05FA2DAB26E9}"/>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286EA42-7789-D811-DAC3-B3F66F7A59C1}"/>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ILLUSTRATIVE TIMELINE</a:t>
            </a:r>
          </a:p>
        </p:txBody>
      </p:sp>
      <p:sp>
        <p:nvSpPr>
          <p:cNvPr id="4" name="Rectangle 3">
            <a:extLst>
              <a:ext uri="{FF2B5EF4-FFF2-40B4-BE49-F238E27FC236}">
                <a16:creationId xmlns:a16="http://schemas.microsoft.com/office/drawing/2014/main" id="{E233BC76-51D4-BA8C-B796-A6E724AC93F9}"/>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78A91D8-66B4-9D71-FC5B-4F878A2ED132}"/>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6" name="TextBox 5">
            <a:extLst>
              <a:ext uri="{FF2B5EF4-FFF2-40B4-BE49-F238E27FC236}">
                <a16:creationId xmlns:a16="http://schemas.microsoft.com/office/drawing/2014/main" id="{90ACC7D1-8A08-AB88-FDA5-B4CD425DF7B3}"/>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04</a:t>
            </a:r>
          </a:p>
        </p:txBody>
      </p:sp>
      <p:pic>
        <p:nvPicPr>
          <p:cNvPr id="8" name="Picture 7" descr="Seven relative months: blue monthly code promotion, orange package fixes bundled into compliance, and red urgent fixes across all four channels.">
            <a:extLst>
              <a:ext uri="{FF2B5EF4-FFF2-40B4-BE49-F238E27FC236}">
                <a16:creationId xmlns:a16="http://schemas.microsoft.com/office/drawing/2014/main" id="{937FFFCF-94AA-C967-27E4-71D7132853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647700"/>
            <a:ext cx="11684000" cy="5713476"/>
          </a:xfrm>
          <a:prstGeom prst="rect">
            <a:avLst/>
          </a:prstGeom>
        </p:spPr>
      </p:pic>
    </p:spTree>
    <p:extLst>
      <p:ext uri="{BB962C8B-B14F-4D97-AF65-F5344CB8AC3E}">
        <p14:creationId xmlns:p14="http://schemas.microsoft.com/office/powerpoint/2010/main" val="1717363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76BBF3-ADAF-D8EF-C96A-1C01A96F8A79}"/>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12F5125-AC88-87F6-93DB-472BB64186C7}"/>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CONFIGURATION</a:t>
            </a:r>
          </a:p>
        </p:txBody>
      </p:sp>
      <p:sp>
        <p:nvSpPr>
          <p:cNvPr id="4" name="TextBox 3">
            <a:extLst>
              <a:ext uri="{FF2B5EF4-FFF2-40B4-BE49-F238E27FC236}">
                <a16:creationId xmlns:a16="http://schemas.microsoft.com/office/drawing/2014/main" id="{B49C433E-D42A-FEB5-31AD-62CC047FFFDC}"/>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Select a channel; start a new session</a:t>
            </a:r>
          </a:p>
        </p:txBody>
      </p:sp>
      <p:sp>
        <p:nvSpPr>
          <p:cNvPr id="5" name="Rectangle 4">
            <a:extLst>
              <a:ext uri="{FF2B5EF4-FFF2-40B4-BE49-F238E27FC236}">
                <a16:creationId xmlns:a16="http://schemas.microsoft.com/office/drawing/2014/main" id="{9A73707E-B031-8148-2FA3-1360A9217A56}"/>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A8F3F7B-5B3F-2F93-6D9B-993C67010351}"/>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1723C08C-60EA-1E15-E60A-FC6F6C330F07}"/>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05</a:t>
            </a:r>
          </a:p>
        </p:txBody>
      </p:sp>
      <p:sp>
        <p:nvSpPr>
          <p:cNvPr id="8" name="Rectangle 7">
            <a:extLst>
              <a:ext uri="{FF2B5EF4-FFF2-40B4-BE49-F238E27FC236}">
                <a16:creationId xmlns:a16="http://schemas.microsoft.com/office/drawing/2014/main" id="{E9A4FE65-83C4-1810-2D9A-DA0B98ACB625}"/>
              </a:ext>
            </a:extLst>
          </p:cNvPr>
          <p:cNvSpPr/>
          <p:nvPr/>
        </p:nvSpPr>
        <p:spPr>
          <a:xfrm>
            <a:off x="508000" y="1816100"/>
            <a:ext cx="11176000" cy="7747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0973CD3-2A68-9FFB-6D45-52F1F658A6E1}"/>
              </a:ext>
            </a:extLst>
          </p:cNvPr>
          <p:cNvSpPr txBox="1"/>
          <p:nvPr/>
        </p:nvSpPr>
        <p:spPr>
          <a:xfrm>
            <a:off x="711200" y="2019299"/>
            <a:ext cx="10769600" cy="431800"/>
          </a:xfrm>
          <a:prstGeom prst="rect">
            <a:avLst/>
          </a:prstGeom>
          <a:noFill/>
        </p:spPr>
        <p:txBody>
          <a:bodyPr vert="horz" wrap="square" lIns="0" tIns="0" rIns="0" bIns="0" rtlCol="0">
            <a:noAutofit/>
          </a:bodyPr>
          <a:lstStyle/>
          <a:p>
            <a:r>
              <a:rPr lang="en-US" sz="2100">
                <a:solidFill>
                  <a:srgbClr val="006DC7"/>
                </a:solidFill>
                <a:latin typeface="Consolas" panose="020B0609020204030204" pitchFamily="49" charset="0"/>
              </a:rPr>
              <a:t>spark.computeConf.runtime.releaseChannel=earlyAccess</a:t>
            </a:r>
          </a:p>
        </p:txBody>
      </p:sp>
      <p:sp>
        <p:nvSpPr>
          <p:cNvPr id="10" name="TextBox 9">
            <a:extLst>
              <a:ext uri="{FF2B5EF4-FFF2-40B4-BE49-F238E27FC236}">
                <a16:creationId xmlns:a16="http://schemas.microsoft.com/office/drawing/2014/main" id="{F4CC55F3-663D-2C7E-23C9-C3D6E676DD3C}"/>
              </a:ext>
            </a:extLst>
          </p:cNvPr>
          <p:cNvSpPr txBox="1"/>
          <p:nvPr/>
        </p:nvSpPr>
        <p:spPr>
          <a:xfrm>
            <a:off x="508000" y="2971799"/>
            <a:ext cx="635000" cy="457200"/>
          </a:xfrm>
          <a:prstGeom prst="rect">
            <a:avLst/>
          </a:prstGeom>
          <a:noFill/>
        </p:spPr>
        <p:txBody>
          <a:bodyPr vert="horz" wrap="square" lIns="0" tIns="0" rIns="0" bIns="0" rtlCol="0">
            <a:noAutofit/>
          </a:bodyPr>
          <a:lstStyle/>
          <a:p>
            <a:r>
              <a:rPr lang="en-US" sz="2400" b="1">
                <a:solidFill>
                  <a:srgbClr val="007F78"/>
                </a:solidFill>
                <a:latin typeface="Aptos" panose="020B0004020202020204" pitchFamily="34" charset="0"/>
              </a:rPr>
              <a:t>01</a:t>
            </a:r>
          </a:p>
        </p:txBody>
      </p:sp>
      <p:sp>
        <p:nvSpPr>
          <p:cNvPr id="11" name="TextBox 10">
            <a:extLst>
              <a:ext uri="{FF2B5EF4-FFF2-40B4-BE49-F238E27FC236}">
                <a16:creationId xmlns:a16="http://schemas.microsoft.com/office/drawing/2014/main" id="{00C8E32E-1110-4A2D-D518-6F84AC8C1111}"/>
              </a:ext>
            </a:extLst>
          </p:cNvPr>
          <p:cNvSpPr txBox="1"/>
          <p:nvPr/>
        </p:nvSpPr>
        <p:spPr>
          <a:xfrm>
            <a:off x="1346200" y="2971799"/>
            <a:ext cx="10236200" cy="533400"/>
          </a:xfrm>
          <a:prstGeom prst="rect">
            <a:avLst/>
          </a:prstGeom>
          <a:noFill/>
        </p:spPr>
        <p:txBody>
          <a:bodyPr vert="horz" wrap="square" lIns="0" tIns="0" rIns="0" bIns="0" rtlCol="0">
            <a:noAutofit/>
          </a:bodyPr>
          <a:lstStyle/>
          <a:p>
            <a:r>
              <a:rPr lang="en-US" sz="2200">
                <a:solidFill>
                  <a:srgbClr val="17212B"/>
                </a:solidFill>
                <a:latin typeface="Aptos" panose="020B0004020202020204" pitchFamily="34" charset="0"/>
              </a:rPr>
              <a:t>Create or edit an Apache Spark configuration in Synapse Studio.</a:t>
            </a:r>
          </a:p>
        </p:txBody>
      </p:sp>
      <p:sp>
        <p:nvSpPr>
          <p:cNvPr id="12" name="TextBox 11">
            <a:extLst>
              <a:ext uri="{FF2B5EF4-FFF2-40B4-BE49-F238E27FC236}">
                <a16:creationId xmlns:a16="http://schemas.microsoft.com/office/drawing/2014/main" id="{030A10E4-EEE3-461C-002A-4B6EE6D4444B}"/>
              </a:ext>
            </a:extLst>
          </p:cNvPr>
          <p:cNvSpPr txBox="1"/>
          <p:nvPr/>
        </p:nvSpPr>
        <p:spPr>
          <a:xfrm>
            <a:off x="508000" y="3619499"/>
            <a:ext cx="635000" cy="457200"/>
          </a:xfrm>
          <a:prstGeom prst="rect">
            <a:avLst/>
          </a:prstGeom>
          <a:noFill/>
        </p:spPr>
        <p:txBody>
          <a:bodyPr vert="horz" wrap="square" lIns="0" tIns="0" rIns="0" bIns="0" rtlCol="0">
            <a:noAutofit/>
          </a:bodyPr>
          <a:lstStyle/>
          <a:p>
            <a:r>
              <a:rPr lang="en-US" sz="2400" b="1">
                <a:solidFill>
                  <a:srgbClr val="007F78"/>
                </a:solidFill>
                <a:latin typeface="Aptos" panose="020B0004020202020204" pitchFamily="34" charset="0"/>
              </a:rPr>
              <a:t>02</a:t>
            </a:r>
          </a:p>
        </p:txBody>
      </p:sp>
      <p:sp>
        <p:nvSpPr>
          <p:cNvPr id="13" name="TextBox 12">
            <a:extLst>
              <a:ext uri="{FF2B5EF4-FFF2-40B4-BE49-F238E27FC236}">
                <a16:creationId xmlns:a16="http://schemas.microsoft.com/office/drawing/2014/main" id="{93214146-27A4-25C9-3F37-A1409FDD94C3}"/>
              </a:ext>
            </a:extLst>
          </p:cNvPr>
          <p:cNvSpPr txBox="1"/>
          <p:nvPr/>
        </p:nvSpPr>
        <p:spPr>
          <a:xfrm>
            <a:off x="1346200" y="3619499"/>
            <a:ext cx="10236200" cy="533400"/>
          </a:xfrm>
          <a:prstGeom prst="rect">
            <a:avLst/>
          </a:prstGeom>
          <a:noFill/>
        </p:spPr>
        <p:txBody>
          <a:bodyPr vert="horz" wrap="square" lIns="0" tIns="0" rIns="0" bIns="0" rtlCol="0">
            <a:noAutofit/>
          </a:bodyPr>
          <a:lstStyle/>
          <a:p>
            <a:r>
              <a:rPr lang="en-US" sz="2200">
                <a:solidFill>
                  <a:srgbClr val="17212B"/>
                </a:solidFill>
                <a:latin typeface="Aptos" panose="020B0004020202020204" pitchFamily="34" charset="0"/>
              </a:rPr>
              <a:t>Add the property once, select a value, and publish.</a:t>
            </a:r>
          </a:p>
        </p:txBody>
      </p:sp>
      <p:sp>
        <p:nvSpPr>
          <p:cNvPr id="14" name="TextBox 13">
            <a:extLst>
              <a:ext uri="{FF2B5EF4-FFF2-40B4-BE49-F238E27FC236}">
                <a16:creationId xmlns:a16="http://schemas.microsoft.com/office/drawing/2014/main" id="{4FF7E611-EAE5-1410-A707-6871B3003C2B}"/>
              </a:ext>
            </a:extLst>
          </p:cNvPr>
          <p:cNvSpPr txBox="1"/>
          <p:nvPr/>
        </p:nvSpPr>
        <p:spPr>
          <a:xfrm>
            <a:off x="508000" y="4267199"/>
            <a:ext cx="635000" cy="457200"/>
          </a:xfrm>
          <a:prstGeom prst="rect">
            <a:avLst/>
          </a:prstGeom>
          <a:noFill/>
        </p:spPr>
        <p:txBody>
          <a:bodyPr vert="horz" wrap="square" lIns="0" tIns="0" rIns="0" bIns="0" rtlCol="0">
            <a:noAutofit/>
          </a:bodyPr>
          <a:lstStyle/>
          <a:p>
            <a:r>
              <a:rPr lang="en-US" sz="2400" b="1">
                <a:solidFill>
                  <a:srgbClr val="007F78"/>
                </a:solidFill>
                <a:latin typeface="Aptos" panose="020B0004020202020204" pitchFamily="34" charset="0"/>
              </a:rPr>
              <a:t>03</a:t>
            </a:r>
          </a:p>
        </p:txBody>
      </p:sp>
      <p:sp>
        <p:nvSpPr>
          <p:cNvPr id="15" name="TextBox 14">
            <a:extLst>
              <a:ext uri="{FF2B5EF4-FFF2-40B4-BE49-F238E27FC236}">
                <a16:creationId xmlns:a16="http://schemas.microsoft.com/office/drawing/2014/main" id="{30125193-85F5-7CD5-3D05-4F75BE072F7D}"/>
              </a:ext>
            </a:extLst>
          </p:cNvPr>
          <p:cNvSpPr txBox="1"/>
          <p:nvPr/>
        </p:nvSpPr>
        <p:spPr>
          <a:xfrm>
            <a:off x="1346200" y="4267199"/>
            <a:ext cx="10236200" cy="533400"/>
          </a:xfrm>
          <a:prstGeom prst="rect">
            <a:avLst/>
          </a:prstGeom>
          <a:noFill/>
        </p:spPr>
        <p:txBody>
          <a:bodyPr vert="horz" wrap="square" lIns="0" tIns="0" rIns="0" bIns="0" rtlCol="0">
            <a:noAutofit/>
          </a:bodyPr>
          <a:lstStyle/>
          <a:p>
            <a:r>
              <a:rPr lang="en-US" sz="2200">
                <a:solidFill>
                  <a:srgbClr val="17212B"/>
                </a:solidFill>
                <a:latin typeface="Aptos" panose="020B0004020202020204" pitchFamily="34" charset="0"/>
              </a:rPr>
              <a:t>Apply the configuration to the intended Spark 3.5 pool.</a:t>
            </a:r>
          </a:p>
        </p:txBody>
      </p:sp>
      <p:sp>
        <p:nvSpPr>
          <p:cNvPr id="16" name="TextBox 15">
            <a:extLst>
              <a:ext uri="{FF2B5EF4-FFF2-40B4-BE49-F238E27FC236}">
                <a16:creationId xmlns:a16="http://schemas.microsoft.com/office/drawing/2014/main" id="{83BC8FD5-9498-934A-0B4D-D8E51FD2CB63}"/>
              </a:ext>
            </a:extLst>
          </p:cNvPr>
          <p:cNvSpPr txBox="1"/>
          <p:nvPr/>
        </p:nvSpPr>
        <p:spPr>
          <a:xfrm>
            <a:off x="508000" y="4914899"/>
            <a:ext cx="635000" cy="457200"/>
          </a:xfrm>
          <a:prstGeom prst="rect">
            <a:avLst/>
          </a:prstGeom>
          <a:noFill/>
        </p:spPr>
        <p:txBody>
          <a:bodyPr vert="horz" wrap="square" lIns="0" tIns="0" rIns="0" bIns="0" rtlCol="0">
            <a:noAutofit/>
          </a:bodyPr>
          <a:lstStyle/>
          <a:p>
            <a:r>
              <a:rPr lang="en-US" sz="2400" b="1">
                <a:solidFill>
                  <a:srgbClr val="007F78"/>
                </a:solidFill>
                <a:latin typeface="Aptos" panose="020B0004020202020204" pitchFamily="34" charset="0"/>
              </a:rPr>
              <a:t>04</a:t>
            </a:r>
          </a:p>
        </p:txBody>
      </p:sp>
      <p:sp>
        <p:nvSpPr>
          <p:cNvPr id="17" name="TextBox 16">
            <a:extLst>
              <a:ext uri="{FF2B5EF4-FFF2-40B4-BE49-F238E27FC236}">
                <a16:creationId xmlns:a16="http://schemas.microsoft.com/office/drawing/2014/main" id="{91D05171-674E-EC1C-A80D-68A490769A70}"/>
              </a:ext>
            </a:extLst>
          </p:cNvPr>
          <p:cNvSpPr txBox="1"/>
          <p:nvPr/>
        </p:nvSpPr>
        <p:spPr>
          <a:xfrm>
            <a:off x="1346200" y="4914899"/>
            <a:ext cx="10236200" cy="533400"/>
          </a:xfrm>
          <a:prstGeom prst="rect">
            <a:avLst/>
          </a:prstGeom>
          <a:noFill/>
        </p:spPr>
        <p:txBody>
          <a:bodyPr vert="horz" wrap="square" lIns="0" tIns="0" rIns="0" bIns="0" rtlCol="0">
            <a:noAutofit/>
          </a:bodyPr>
          <a:lstStyle/>
          <a:p>
            <a:r>
              <a:rPr lang="en-US" sz="2200">
                <a:solidFill>
                  <a:srgbClr val="17212B"/>
                </a:solidFill>
                <a:latin typeface="Aptos" panose="020B0004020202020204" pitchFamily="34" charset="0"/>
              </a:rPr>
              <a:t>Start a new session and verify the selected channel.</a:t>
            </a:r>
          </a:p>
        </p:txBody>
      </p:sp>
      <p:sp>
        <p:nvSpPr>
          <p:cNvPr id="18" name="TextBox 17">
            <a:extLst>
              <a:ext uri="{FF2B5EF4-FFF2-40B4-BE49-F238E27FC236}">
                <a16:creationId xmlns:a16="http://schemas.microsoft.com/office/drawing/2014/main" id="{7A8B820A-01FA-758D-58DA-975E694C6C6A}"/>
              </a:ext>
            </a:extLst>
          </p:cNvPr>
          <p:cNvSpPr txBox="1"/>
          <p:nvPr/>
        </p:nvSpPr>
        <p:spPr>
          <a:xfrm>
            <a:off x="508000" y="5867399"/>
            <a:ext cx="11176000" cy="419100"/>
          </a:xfrm>
          <a:prstGeom prst="rect">
            <a:avLst/>
          </a:prstGeom>
          <a:noFill/>
        </p:spPr>
        <p:txBody>
          <a:bodyPr vert="horz" wrap="square" lIns="0" tIns="0" rIns="0" bIns="0" rtlCol="0">
            <a:noAutofit/>
          </a:bodyPr>
          <a:lstStyle/>
          <a:p>
            <a:r>
              <a:rPr lang="en-US">
                <a:solidFill>
                  <a:srgbClr val="52616B"/>
                </a:solidFill>
                <a:latin typeface="Aptos" panose="020B0004020202020204" pitchFamily="34" charset="0"/>
              </a:rPr>
              <a:t>You can change the value later. Running sessions keep their selected channel.</a:t>
            </a:r>
          </a:p>
        </p:txBody>
      </p:sp>
    </p:spTree>
    <p:extLst>
      <p:ext uri="{BB962C8B-B14F-4D97-AF65-F5344CB8AC3E}">
        <p14:creationId xmlns:p14="http://schemas.microsoft.com/office/powerpoint/2010/main" val="173740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A115EA-DE93-61DD-D264-EDDDB7F19BCF}"/>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365919-61AE-076F-E2B3-9F5FFD9D9CFC}"/>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OBSERVE AND DIAGNOSE</a:t>
            </a:r>
          </a:p>
        </p:txBody>
      </p:sp>
      <p:sp>
        <p:nvSpPr>
          <p:cNvPr id="4" name="TextBox 3">
            <a:extLst>
              <a:ext uri="{FF2B5EF4-FFF2-40B4-BE49-F238E27FC236}">
                <a16:creationId xmlns:a16="http://schemas.microsoft.com/office/drawing/2014/main" id="{FC0B3047-64D7-C358-4900-C046442ABC40}"/>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Know the channel and build you are testing</a:t>
            </a:r>
          </a:p>
        </p:txBody>
      </p:sp>
      <p:sp>
        <p:nvSpPr>
          <p:cNvPr id="5" name="Rectangle 4">
            <a:extLst>
              <a:ext uri="{FF2B5EF4-FFF2-40B4-BE49-F238E27FC236}">
                <a16:creationId xmlns:a16="http://schemas.microsoft.com/office/drawing/2014/main" id="{4987210C-41E6-5238-1E97-8E8DDEFA0F4D}"/>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C86224E-3FD2-3A97-47B1-B4AF6E562269}"/>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67A5712C-877F-DA94-104C-C95208C5D3DE}"/>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06</a:t>
            </a:r>
          </a:p>
        </p:txBody>
      </p:sp>
      <p:sp>
        <p:nvSpPr>
          <p:cNvPr id="8" name="TextBox 7">
            <a:extLst>
              <a:ext uri="{FF2B5EF4-FFF2-40B4-BE49-F238E27FC236}">
                <a16:creationId xmlns:a16="http://schemas.microsoft.com/office/drawing/2014/main" id="{47FC1D81-8F8D-8106-B164-EAFEC64DE4EE}"/>
              </a:ext>
            </a:extLst>
          </p:cNvPr>
          <p:cNvSpPr txBox="1"/>
          <p:nvPr/>
        </p:nvSpPr>
        <p:spPr>
          <a:xfrm>
            <a:off x="508000" y="1828799"/>
            <a:ext cx="10922000" cy="3937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Release channel</a:t>
            </a:r>
          </a:p>
        </p:txBody>
      </p:sp>
      <p:sp>
        <p:nvSpPr>
          <p:cNvPr id="9" name="Rectangle 8">
            <a:extLst>
              <a:ext uri="{FF2B5EF4-FFF2-40B4-BE49-F238E27FC236}">
                <a16:creationId xmlns:a16="http://schemas.microsoft.com/office/drawing/2014/main" id="{2BFF7A73-B116-9A79-82B3-AAA62AF3B3EE}"/>
              </a:ext>
            </a:extLst>
          </p:cNvPr>
          <p:cNvSpPr/>
          <p:nvPr/>
        </p:nvSpPr>
        <p:spPr>
          <a:xfrm>
            <a:off x="508000" y="2349500"/>
            <a:ext cx="11176000" cy="7366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7073BC-5EE1-3038-1583-4E3915AB23E4}"/>
              </a:ext>
            </a:extLst>
          </p:cNvPr>
          <p:cNvSpPr txBox="1"/>
          <p:nvPr/>
        </p:nvSpPr>
        <p:spPr>
          <a:xfrm>
            <a:off x="698500" y="2552699"/>
            <a:ext cx="10795000" cy="406400"/>
          </a:xfrm>
          <a:prstGeom prst="rect">
            <a:avLst/>
          </a:prstGeom>
          <a:noFill/>
        </p:spPr>
        <p:txBody>
          <a:bodyPr vert="horz" wrap="square" lIns="0" tIns="0" rIns="0" bIns="0" rtlCol="0">
            <a:noAutofit/>
          </a:bodyPr>
          <a:lstStyle/>
          <a:p>
            <a:r>
              <a:rPr lang="en-US" sz="2000">
                <a:solidFill>
                  <a:srgbClr val="006DC7"/>
                </a:solidFill>
                <a:latin typeface="Consolas" panose="020B0609020204030204" pitchFamily="49" charset="0"/>
              </a:rPr>
              <a:t>spark.conf.get("spark.computeConf.runtime.releaseChannel", "")</a:t>
            </a:r>
          </a:p>
        </p:txBody>
      </p:sp>
      <p:sp>
        <p:nvSpPr>
          <p:cNvPr id="11" name="TextBox 10">
            <a:extLst>
              <a:ext uri="{FF2B5EF4-FFF2-40B4-BE49-F238E27FC236}">
                <a16:creationId xmlns:a16="http://schemas.microsoft.com/office/drawing/2014/main" id="{EE0AEF07-8C08-FCF9-DDA4-0DEC11D31F14}"/>
              </a:ext>
            </a:extLst>
          </p:cNvPr>
          <p:cNvSpPr txBox="1"/>
          <p:nvPr/>
        </p:nvSpPr>
        <p:spPr>
          <a:xfrm>
            <a:off x="508000" y="3428999"/>
            <a:ext cx="10922000" cy="4191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Runtime image (virtual hard disk / VHD)</a:t>
            </a:r>
          </a:p>
        </p:txBody>
      </p:sp>
      <p:sp>
        <p:nvSpPr>
          <p:cNvPr id="12" name="Rectangle 11">
            <a:extLst>
              <a:ext uri="{FF2B5EF4-FFF2-40B4-BE49-F238E27FC236}">
                <a16:creationId xmlns:a16="http://schemas.microsoft.com/office/drawing/2014/main" id="{8FC4B116-F712-84F5-5D5E-CCB37FDB76C5}"/>
              </a:ext>
            </a:extLst>
          </p:cNvPr>
          <p:cNvSpPr/>
          <p:nvPr/>
        </p:nvSpPr>
        <p:spPr>
          <a:xfrm>
            <a:off x="508000" y="3949700"/>
            <a:ext cx="11176000" cy="7366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4C91BC9-2FD3-E346-2EF1-790C5C908F43}"/>
              </a:ext>
            </a:extLst>
          </p:cNvPr>
          <p:cNvSpPr txBox="1"/>
          <p:nvPr/>
        </p:nvSpPr>
        <p:spPr>
          <a:xfrm>
            <a:off x="698500" y="4152899"/>
            <a:ext cx="10795000" cy="406400"/>
          </a:xfrm>
          <a:prstGeom prst="rect">
            <a:avLst/>
          </a:prstGeom>
          <a:noFill/>
        </p:spPr>
        <p:txBody>
          <a:bodyPr vert="horz" wrap="square" lIns="0" tIns="0" rIns="0" bIns="0" rtlCol="0">
            <a:noAutofit/>
          </a:bodyPr>
          <a:lstStyle/>
          <a:p>
            <a:r>
              <a:rPr lang="en-US" sz="2000">
                <a:solidFill>
                  <a:srgbClr val="006DC7"/>
                </a:solidFill>
                <a:latin typeface="Consolas" panose="020B0609020204030204" pitchFamily="49" charset="0"/>
              </a:rPr>
              <a:t>spark.conf.get("spark.synapse.vhd.name", "")</a:t>
            </a:r>
          </a:p>
        </p:txBody>
      </p:sp>
      <p:sp>
        <p:nvSpPr>
          <p:cNvPr id="14" name="TextBox 13">
            <a:extLst>
              <a:ext uri="{FF2B5EF4-FFF2-40B4-BE49-F238E27FC236}">
                <a16:creationId xmlns:a16="http://schemas.microsoft.com/office/drawing/2014/main" id="{D68C95F3-0504-930C-E5AE-4EA868AB56FB}"/>
              </a:ext>
            </a:extLst>
          </p:cNvPr>
          <p:cNvSpPr txBox="1"/>
          <p:nvPr/>
        </p:nvSpPr>
        <p:spPr>
          <a:xfrm>
            <a:off x="508000" y="5016499"/>
            <a:ext cx="11176000" cy="4064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Run these in a PySpark notebook cell in the active session.</a:t>
            </a:r>
          </a:p>
        </p:txBody>
      </p:sp>
      <p:sp>
        <p:nvSpPr>
          <p:cNvPr id="15" name="TextBox 14">
            <a:extLst>
              <a:ext uri="{FF2B5EF4-FFF2-40B4-BE49-F238E27FC236}">
                <a16:creationId xmlns:a16="http://schemas.microsoft.com/office/drawing/2014/main" id="{660925E0-5A98-07FC-91F2-C787E7083747}"/>
              </a:ext>
            </a:extLst>
          </p:cNvPr>
          <p:cNvSpPr txBox="1"/>
          <p:nvPr/>
        </p:nvSpPr>
        <p:spPr>
          <a:xfrm>
            <a:off x="508000" y="5613399"/>
            <a:ext cx="11176000" cy="635000"/>
          </a:xfrm>
          <a:prstGeom prst="rect">
            <a:avLst/>
          </a:prstGeom>
          <a:noFill/>
        </p:spPr>
        <p:txBody>
          <a:bodyPr vert="horz" wrap="square" lIns="0" tIns="0" rIns="0" bIns="0" rtlCol="0">
            <a:noAutofit/>
          </a:bodyPr>
          <a:lstStyle/>
          <a:p>
            <a:r>
              <a:rPr lang="en-US" sz="1900">
                <a:solidFill>
                  <a:srgbClr val="52616B"/>
                </a:solidFill>
                <a:latin typeface="Aptos" panose="020B0004020202020204" pitchFamily="34" charset="0"/>
              </a:rPr>
              <a:t>For support: capture runtime version, channel, VHD, libraries, errors, and repro steps.</a:t>
            </a:r>
          </a:p>
        </p:txBody>
      </p:sp>
    </p:spTree>
    <p:extLst>
      <p:ext uri="{BB962C8B-B14F-4D97-AF65-F5344CB8AC3E}">
        <p14:creationId xmlns:p14="http://schemas.microsoft.com/office/powerpoint/2010/main" val="2558759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E68594-386C-68A0-C6EC-FDE3EC0F819E}"/>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A6FF7AF-1C80-F43F-40B5-B0EBAC1E9038}"/>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VALIDATION WORKFLOW</a:t>
            </a:r>
          </a:p>
        </p:txBody>
      </p:sp>
      <p:sp>
        <p:nvSpPr>
          <p:cNvPr id="4" name="TextBox 3">
            <a:extLst>
              <a:ext uri="{FF2B5EF4-FFF2-40B4-BE49-F238E27FC236}">
                <a16:creationId xmlns:a16="http://schemas.microsoft.com/office/drawing/2014/main" id="{AD6F4094-F6A4-4CAF-6AF2-5803AC8083EE}"/>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Test realistic workloads, not just startup</a:t>
            </a:r>
          </a:p>
        </p:txBody>
      </p:sp>
      <p:sp>
        <p:nvSpPr>
          <p:cNvPr id="5" name="Rectangle 4">
            <a:extLst>
              <a:ext uri="{FF2B5EF4-FFF2-40B4-BE49-F238E27FC236}">
                <a16:creationId xmlns:a16="http://schemas.microsoft.com/office/drawing/2014/main" id="{1B633A8E-FD57-0B2C-2FBA-F52923A10EA5}"/>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BB52CD9-CACD-303E-268F-08444DCBB5ED}"/>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95FA70AE-C350-5241-AA0B-96FABECFD11C}"/>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07</a:t>
            </a:r>
          </a:p>
        </p:txBody>
      </p:sp>
      <p:sp>
        <p:nvSpPr>
          <p:cNvPr id="8" name="TextBox 7">
            <a:extLst>
              <a:ext uri="{FF2B5EF4-FFF2-40B4-BE49-F238E27FC236}">
                <a16:creationId xmlns:a16="http://schemas.microsoft.com/office/drawing/2014/main" id="{6A1A2C52-1F75-CC9D-889B-9ADBB95CA598}"/>
              </a:ext>
            </a:extLst>
          </p:cNvPr>
          <p:cNvSpPr txBox="1"/>
          <p:nvPr/>
        </p:nvSpPr>
        <p:spPr>
          <a:xfrm>
            <a:off x="508000" y="1841499"/>
            <a:ext cx="698500" cy="508000"/>
          </a:xfrm>
          <a:prstGeom prst="rect">
            <a:avLst/>
          </a:prstGeom>
          <a:noFill/>
        </p:spPr>
        <p:txBody>
          <a:bodyPr vert="horz" wrap="square" lIns="0" tIns="0" rIns="0" bIns="0" rtlCol="0">
            <a:noAutofit/>
          </a:bodyPr>
          <a:lstStyle/>
          <a:p>
            <a:r>
              <a:rPr lang="en-US" sz="2700" b="1">
                <a:solidFill>
                  <a:srgbClr val="007F78"/>
                </a:solidFill>
                <a:latin typeface="Aptos" panose="020B0004020202020204" pitchFamily="34" charset="0"/>
              </a:rPr>
              <a:t>01</a:t>
            </a:r>
          </a:p>
        </p:txBody>
      </p:sp>
      <p:sp>
        <p:nvSpPr>
          <p:cNvPr id="9" name="TextBox 8">
            <a:extLst>
              <a:ext uri="{FF2B5EF4-FFF2-40B4-BE49-F238E27FC236}">
                <a16:creationId xmlns:a16="http://schemas.microsoft.com/office/drawing/2014/main" id="{55AC8DC9-BB5B-7D0D-0781-5F476BAB2F69}"/>
              </a:ext>
            </a:extLst>
          </p:cNvPr>
          <p:cNvSpPr txBox="1"/>
          <p:nvPr/>
        </p:nvSpPr>
        <p:spPr>
          <a:xfrm>
            <a:off x="1397000" y="1841499"/>
            <a:ext cx="10223500" cy="3937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Match production</a:t>
            </a:r>
          </a:p>
        </p:txBody>
      </p:sp>
      <p:sp>
        <p:nvSpPr>
          <p:cNvPr id="10" name="TextBox 9">
            <a:extLst>
              <a:ext uri="{FF2B5EF4-FFF2-40B4-BE49-F238E27FC236}">
                <a16:creationId xmlns:a16="http://schemas.microsoft.com/office/drawing/2014/main" id="{87CEE640-F614-70F6-AC35-3069C7DEE7B5}"/>
              </a:ext>
            </a:extLst>
          </p:cNvPr>
          <p:cNvSpPr txBox="1"/>
          <p:nvPr/>
        </p:nvSpPr>
        <p:spPr>
          <a:xfrm>
            <a:off x="1397000" y="2260599"/>
            <a:ext cx="10223500" cy="4572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Use representative pools, data access, libraries, and configuration.</a:t>
            </a:r>
          </a:p>
        </p:txBody>
      </p:sp>
      <p:sp>
        <p:nvSpPr>
          <p:cNvPr id="11" name="TextBox 10">
            <a:extLst>
              <a:ext uri="{FF2B5EF4-FFF2-40B4-BE49-F238E27FC236}">
                <a16:creationId xmlns:a16="http://schemas.microsoft.com/office/drawing/2014/main" id="{4E061D9C-80B7-3A58-BD1B-60AC36F530CC}"/>
              </a:ext>
            </a:extLst>
          </p:cNvPr>
          <p:cNvSpPr txBox="1"/>
          <p:nvPr/>
        </p:nvSpPr>
        <p:spPr>
          <a:xfrm>
            <a:off x="508000" y="2819399"/>
            <a:ext cx="698500" cy="508000"/>
          </a:xfrm>
          <a:prstGeom prst="rect">
            <a:avLst/>
          </a:prstGeom>
          <a:noFill/>
        </p:spPr>
        <p:txBody>
          <a:bodyPr vert="horz" wrap="square" lIns="0" tIns="0" rIns="0" bIns="0" rtlCol="0">
            <a:noAutofit/>
          </a:bodyPr>
          <a:lstStyle/>
          <a:p>
            <a:r>
              <a:rPr lang="en-US" sz="2700" b="1">
                <a:solidFill>
                  <a:srgbClr val="007F78"/>
                </a:solidFill>
                <a:latin typeface="Aptos" panose="020B0004020202020204" pitchFamily="34" charset="0"/>
              </a:rPr>
              <a:t>02</a:t>
            </a:r>
          </a:p>
        </p:txBody>
      </p:sp>
      <p:sp>
        <p:nvSpPr>
          <p:cNvPr id="12" name="TextBox 11">
            <a:extLst>
              <a:ext uri="{FF2B5EF4-FFF2-40B4-BE49-F238E27FC236}">
                <a16:creationId xmlns:a16="http://schemas.microsoft.com/office/drawing/2014/main" id="{6BB10E5D-D392-A1AB-A311-34AC8095A45F}"/>
              </a:ext>
            </a:extLst>
          </p:cNvPr>
          <p:cNvSpPr txBox="1"/>
          <p:nvPr/>
        </p:nvSpPr>
        <p:spPr>
          <a:xfrm>
            <a:off x="1397000" y="2819399"/>
            <a:ext cx="10223500" cy="3937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Exercise the workload</a:t>
            </a:r>
          </a:p>
        </p:txBody>
      </p:sp>
      <p:sp>
        <p:nvSpPr>
          <p:cNvPr id="13" name="TextBox 12">
            <a:extLst>
              <a:ext uri="{FF2B5EF4-FFF2-40B4-BE49-F238E27FC236}">
                <a16:creationId xmlns:a16="http://schemas.microsoft.com/office/drawing/2014/main" id="{D9615E44-495D-10D2-8017-C1B7DFF8D3FF}"/>
              </a:ext>
            </a:extLst>
          </p:cNvPr>
          <p:cNvSpPr txBox="1"/>
          <p:nvPr/>
        </p:nvSpPr>
        <p:spPr>
          <a:xfrm>
            <a:off x="1397000" y="3238499"/>
            <a:ext cx="10223500" cy="4572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Run notebooks, jobs, pipelines, and library install/import tests.</a:t>
            </a:r>
          </a:p>
        </p:txBody>
      </p:sp>
      <p:sp>
        <p:nvSpPr>
          <p:cNvPr id="14" name="TextBox 13">
            <a:extLst>
              <a:ext uri="{FF2B5EF4-FFF2-40B4-BE49-F238E27FC236}">
                <a16:creationId xmlns:a16="http://schemas.microsoft.com/office/drawing/2014/main" id="{8E235797-6D64-6226-BD2E-A25CD1EE474E}"/>
              </a:ext>
            </a:extLst>
          </p:cNvPr>
          <p:cNvSpPr txBox="1"/>
          <p:nvPr/>
        </p:nvSpPr>
        <p:spPr>
          <a:xfrm>
            <a:off x="508000" y="3797299"/>
            <a:ext cx="698500" cy="508000"/>
          </a:xfrm>
          <a:prstGeom prst="rect">
            <a:avLst/>
          </a:prstGeom>
          <a:noFill/>
        </p:spPr>
        <p:txBody>
          <a:bodyPr vert="horz" wrap="square" lIns="0" tIns="0" rIns="0" bIns="0" rtlCol="0">
            <a:noAutofit/>
          </a:bodyPr>
          <a:lstStyle/>
          <a:p>
            <a:r>
              <a:rPr lang="en-US" sz="2700" b="1">
                <a:solidFill>
                  <a:srgbClr val="007F78"/>
                </a:solidFill>
                <a:latin typeface="Aptos" panose="020B0004020202020204" pitchFamily="34" charset="0"/>
              </a:rPr>
              <a:t>03</a:t>
            </a:r>
          </a:p>
        </p:txBody>
      </p:sp>
      <p:sp>
        <p:nvSpPr>
          <p:cNvPr id="15" name="TextBox 14">
            <a:extLst>
              <a:ext uri="{FF2B5EF4-FFF2-40B4-BE49-F238E27FC236}">
                <a16:creationId xmlns:a16="http://schemas.microsoft.com/office/drawing/2014/main" id="{1681FF11-D080-E373-6075-EAB96EB5778F}"/>
              </a:ext>
            </a:extLst>
          </p:cNvPr>
          <p:cNvSpPr txBox="1"/>
          <p:nvPr/>
        </p:nvSpPr>
        <p:spPr>
          <a:xfrm>
            <a:off x="1397000" y="3797299"/>
            <a:ext cx="10223500" cy="3937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Compare and investigate</a:t>
            </a:r>
          </a:p>
        </p:txBody>
      </p:sp>
      <p:sp>
        <p:nvSpPr>
          <p:cNvPr id="16" name="TextBox 15">
            <a:extLst>
              <a:ext uri="{FF2B5EF4-FFF2-40B4-BE49-F238E27FC236}">
                <a16:creationId xmlns:a16="http://schemas.microsoft.com/office/drawing/2014/main" id="{D5D32CC3-B362-0603-25B8-36E55D9D8AF5}"/>
              </a:ext>
            </a:extLst>
          </p:cNvPr>
          <p:cNvSpPr txBox="1"/>
          <p:nvPr/>
        </p:nvSpPr>
        <p:spPr>
          <a:xfrm>
            <a:off x="1397000" y="4216399"/>
            <a:ext cx="10223500" cy="4572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Check correctness, performance, startup, and dependency behavior.</a:t>
            </a:r>
          </a:p>
        </p:txBody>
      </p:sp>
      <p:sp>
        <p:nvSpPr>
          <p:cNvPr id="17" name="TextBox 16">
            <a:extLst>
              <a:ext uri="{FF2B5EF4-FFF2-40B4-BE49-F238E27FC236}">
                <a16:creationId xmlns:a16="http://schemas.microsoft.com/office/drawing/2014/main" id="{2F075295-CC91-B7BF-C7D4-90C4A7F9D985}"/>
              </a:ext>
            </a:extLst>
          </p:cNvPr>
          <p:cNvSpPr txBox="1"/>
          <p:nvPr/>
        </p:nvSpPr>
        <p:spPr>
          <a:xfrm>
            <a:off x="508000" y="4775199"/>
            <a:ext cx="698500" cy="508000"/>
          </a:xfrm>
          <a:prstGeom prst="rect">
            <a:avLst/>
          </a:prstGeom>
          <a:noFill/>
        </p:spPr>
        <p:txBody>
          <a:bodyPr vert="horz" wrap="square" lIns="0" tIns="0" rIns="0" bIns="0" rtlCol="0">
            <a:noAutofit/>
          </a:bodyPr>
          <a:lstStyle/>
          <a:p>
            <a:r>
              <a:rPr lang="en-US" sz="2700" b="1">
                <a:solidFill>
                  <a:srgbClr val="007F78"/>
                </a:solidFill>
                <a:latin typeface="Aptos" panose="020B0004020202020204" pitchFamily="34" charset="0"/>
              </a:rPr>
              <a:t>04</a:t>
            </a:r>
          </a:p>
        </p:txBody>
      </p:sp>
      <p:sp>
        <p:nvSpPr>
          <p:cNvPr id="18" name="TextBox 17">
            <a:extLst>
              <a:ext uri="{FF2B5EF4-FFF2-40B4-BE49-F238E27FC236}">
                <a16:creationId xmlns:a16="http://schemas.microsoft.com/office/drawing/2014/main" id="{634C1F10-28E8-6A73-D410-6BADFB47A97E}"/>
              </a:ext>
            </a:extLst>
          </p:cNvPr>
          <p:cNvSpPr txBox="1"/>
          <p:nvPr/>
        </p:nvSpPr>
        <p:spPr>
          <a:xfrm>
            <a:off x="1397000" y="4775199"/>
            <a:ext cx="10223500" cy="393700"/>
          </a:xfrm>
          <a:prstGeom prst="rect">
            <a:avLst/>
          </a:prstGeom>
          <a:noFill/>
        </p:spPr>
        <p:txBody>
          <a:bodyPr vert="horz" wrap="square" lIns="0" tIns="0" rIns="0" bIns="0" rtlCol="0">
            <a:noAutofit/>
          </a:bodyPr>
          <a:lstStyle/>
          <a:p>
            <a:r>
              <a:rPr lang="en-US" sz="2300" b="1">
                <a:solidFill>
                  <a:srgbClr val="17212B"/>
                </a:solidFill>
                <a:latin typeface="Aptos" panose="020B0004020202020204" pitchFamily="34" charset="0"/>
              </a:rPr>
              <a:t>Prepare production</a:t>
            </a:r>
          </a:p>
        </p:txBody>
      </p:sp>
      <p:sp>
        <p:nvSpPr>
          <p:cNvPr id="19" name="TextBox 18">
            <a:extLst>
              <a:ext uri="{FF2B5EF4-FFF2-40B4-BE49-F238E27FC236}">
                <a16:creationId xmlns:a16="http://schemas.microsoft.com/office/drawing/2014/main" id="{5BAA8E37-ED74-5461-20A7-8888BC65AF79}"/>
              </a:ext>
            </a:extLst>
          </p:cNvPr>
          <p:cNvSpPr txBox="1"/>
          <p:nvPr/>
        </p:nvSpPr>
        <p:spPr>
          <a:xfrm>
            <a:off x="1397000" y="5194299"/>
            <a:ext cx="10223500" cy="457200"/>
          </a:xfrm>
          <a:prstGeom prst="rect">
            <a:avLst/>
          </a:prstGeom>
          <a:noFill/>
        </p:spPr>
        <p:txBody>
          <a:bodyPr vert="horz" wrap="square" lIns="0" tIns="0" rIns="0" bIns="0" rtlCol="0">
            <a:noAutofit/>
          </a:bodyPr>
          <a:lstStyle/>
          <a:p>
            <a:r>
              <a:rPr lang="en-US" sz="2000">
                <a:solidFill>
                  <a:srgbClr val="52616B"/>
                </a:solidFill>
                <a:latin typeface="Aptos" panose="020B0004020202020204" pitchFamily="34" charset="0"/>
              </a:rPr>
              <a:t>Deploy validated changes while retaining the stable channel setting.</a:t>
            </a:r>
          </a:p>
        </p:txBody>
      </p:sp>
      <p:sp>
        <p:nvSpPr>
          <p:cNvPr id="20" name="TextBox 19">
            <a:extLst>
              <a:ext uri="{FF2B5EF4-FFF2-40B4-BE49-F238E27FC236}">
                <a16:creationId xmlns:a16="http://schemas.microsoft.com/office/drawing/2014/main" id="{F26E9238-72B4-CA6A-BC9C-4FDE9EF8CA1E}"/>
              </a:ext>
            </a:extLst>
          </p:cNvPr>
          <p:cNvSpPr txBox="1"/>
          <p:nvPr/>
        </p:nvSpPr>
        <p:spPr>
          <a:xfrm>
            <a:off x="508000" y="5905499"/>
            <a:ext cx="11176000" cy="381000"/>
          </a:xfrm>
          <a:prstGeom prst="rect">
            <a:avLst/>
          </a:prstGeom>
          <a:noFill/>
        </p:spPr>
        <p:txBody>
          <a:bodyPr vert="horz" wrap="square" lIns="0" tIns="0" rIns="0" bIns="0" rtlCol="0">
            <a:noAutofit/>
          </a:bodyPr>
          <a:lstStyle/>
          <a:p>
            <a:r>
              <a:rPr lang="en-US" b="1">
                <a:solidFill>
                  <a:srgbClr val="006DC7"/>
                </a:solidFill>
                <a:latin typeface="Aptos" panose="020B0004020202020204" pitchFamily="34" charset="0"/>
              </a:rPr>
              <a:t>Microsoft promotes runtime updates; customers validate and prepare their workloads.</a:t>
            </a:r>
          </a:p>
        </p:txBody>
      </p:sp>
    </p:spTree>
    <p:extLst>
      <p:ext uri="{BB962C8B-B14F-4D97-AF65-F5344CB8AC3E}">
        <p14:creationId xmlns:p14="http://schemas.microsoft.com/office/powerpoint/2010/main" val="1870395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6B7280C-3496-D967-08DA-4DD1C523A661}"/>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95566B3-11F3-B981-EAC1-AFD9576216CE}"/>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LIBRARY MANAGER</a:t>
            </a:r>
          </a:p>
        </p:txBody>
      </p:sp>
      <p:sp>
        <p:nvSpPr>
          <p:cNvPr id="4" name="TextBox 3">
            <a:extLst>
              <a:ext uri="{FF2B5EF4-FFF2-40B4-BE49-F238E27FC236}">
                <a16:creationId xmlns:a16="http://schemas.microsoft.com/office/drawing/2014/main" id="{D92301FA-4A88-4871-F528-02E1C2756F5F}"/>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Test before promotion. Republish after.</a:t>
            </a:r>
          </a:p>
        </p:txBody>
      </p:sp>
      <p:sp>
        <p:nvSpPr>
          <p:cNvPr id="5" name="Rectangle 4">
            <a:extLst>
              <a:ext uri="{FF2B5EF4-FFF2-40B4-BE49-F238E27FC236}">
                <a16:creationId xmlns:a16="http://schemas.microsoft.com/office/drawing/2014/main" id="{57610E7A-BA54-E224-CF4B-80350E51C706}"/>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0C1DFC8-D33F-B79D-6825-58EDE94A79C6}"/>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E98A0154-B66F-DE7C-E4F5-2540C2F5684C}"/>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08</a:t>
            </a:r>
          </a:p>
        </p:txBody>
      </p:sp>
      <p:sp>
        <p:nvSpPr>
          <p:cNvPr id="8" name="TextBox 7">
            <a:extLst>
              <a:ext uri="{FF2B5EF4-FFF2-40B4-BE49-F238E27FC236}">
                <a16:creationId xmlns:a16="http://schemas.microsoft.com/office/drawing/2014/main" id="{EBFEF09B-0262-4B1B-A7AD-4216D60CD71F}"/>
              </a:ext>
            </a:extLst>
          </p:cNvPr>
          <p:cNvSpPr txBox="1"/>
          <p:nvPr/>
        </p:nvSpPr>
        <p:spPr>
          <a:xfrm>
            <a:off x="508000" y="1803399"/>
            <a:ext cx="11176000" cy="711200"/>
          </a:xfrm>
          <a:prstGeom prst="rect">
            <a:avLst/>
          </a:prstGeom>
          <a:noFill/>
        </p:spPr>
        <p:txBody>
          <a:bodyPr vert="horz" wrap="square" lIns="0" tIns="0" rIns="0" bIns="0" rtlCol="0">
            <a:noAutofit/>
          </a:bodyPr>
          <a:lstStyle/>
          <a:p>
            <a:r>
              <a:rPr lang="en-US" sz="2300">
                <a:solidFill>
                  <a:srgbClr val="52616B"/>
                </a:solidFill>
                <a:latin typeface="Aptos" panose="020B0004020202020204" pitchFamily="34" charset="0"/>
              </a:rPr>
              <a:t>Republishing creates a snapshot using the latest packages in the selected channel.</a:t>
            </a:r>
          </a:p>
        </p:txBody>
      </p:sp>
      <p:sp>
        <p:nvSpPr>
          <p:cNvPr id="9" name="Rectangle 8">
            <a:extLst>
              <a:ext uri="{FF2B5EF4-FFF2-40B4-BE49-F238E27FC236}">
                <a16:creationId xmlns:a16="http://schemas.microsoft.com/office/drawing/2014/main" id="{519D9500-B545-0EAD-7278-989BB053AEDF}"/>
              </a:ext>
            </a:extLst>
          </p:cNvPr>
          <p:cNvSpPr/>
          <p:nvPr/>
        </p:nvSpPr>
        <p:spPr>
          <a:xfrm>
            <a:off x="508000" y="2794000"/>
            <a:ext cx="5334000" cy="2743200"/>
          </a:xfrm>
          <a:prstGeom prst="rect">
            <a:avLst/>
          </a:prstGeom>
          <a:solidFill>
            <a:srgbClr val="F0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FD93CC1-2189-B16B-EC50-688ABC608572}"/>
              </a:ext>
            </a:extLst>
          </p:cNvPr>
          <p:cNvSpPr/>
          <p:nvPr/>
        </p:nvSpPr>
        <p:spPr>
          <a:xfrm>
            <a:off x="6197600" y="2794000"/>
            <a:ext cx="5486400" cy="2743200"/>
          </a:xfrm>
          <a:prstGeom prst="rect">
            <a:avLst/>
          </a:prstGeom>
          <a:solidFill>
            <a:srgbClr val="EDF7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776D373-AEB0-D990-3477-024219067A01}"/>
              </a:ext>
            </a:extLst>
          </p:cNvPr>
          <p:cNvSpPr txBox="1"/>
          <p:nvPr/>
        </p:nvSpPr>
        <p:spPr>
          <a:xfrm>
            <a:off x="736600" y="3022599"/>
            <a:ext cx="4889500" cy="317500"/>
          </a:xfrm>
          <a:prstGeom prst="rect">
            <a:avLst/>
          </a:prstGeom>
          <a:noFill/>
        </p:spPr>
        <p:txBody>
          <a:bodyPr vert="horz" wrap="square" lIns="0" tIns="0" rIns="0" bIns="0" rtlCol="0">
            <a:noAutofit/>
          </a:bodyPr>
          <a:lstStyle/>
          <a:p>
            <a:r>
              <a:rPr lang="en-US" sz="1500" b="1">
                <a:solidFill>
                  <a:srgbClr val="006DC7"/>
                </a:solidFill>
                <a:latin typeface="Aptos" panose="020B0004020202020204" pitchFamily="34" charset="0"/>
              </a:rPr>
              <a:t>BEFORE PROMOTION</a:t>
            </a:r>
          </a:p>
        </p:txBody>
      </p:sp>
      <p:sp>
        <p:nvSpPr>
          <p:cNvPr id="12" name="TextBox 11">
            <a:extLst>
              <a:ext uri="{FF2B5EF4-FFF2-40B4-BE49-F238E27FC236}">
                <a16:creationId xmlns:a16="http://schemas.microsoft.com/office/drawing/2014/main" id="{4C760F7A-7182-FCA5-A817-3AD925A963F4}"/>
              </a:ext>
            </a:extLst>
          </p:cNvPr>
          <p:cNvSpPr txBox="1"/>
          <p:nvPr/>
        </p:nvSpPr>
        <p:spPr>
          <a:xfrm>
            <a:off x="736600" y="3505199"/>
            <a:ext cx="4889500" cy="431800"/>
          </a:xfrm>
          <a:prstGeom prst="rect">
            <a:avLst/>
          </a:prstGeom>
          <a:noFill/>
        </p:spPr>
        <p:txBody>
          <a:bodyPr vert="horz" wrap="square" lIns="0" tIns="0" rIns="0" bIns="0" rtlCol="0">
            <a:noAutofit/>
          </a:bodyPr>
          <a:lstStyle/>
          <a:p>
            <a:r>
              <a:rPr lang="en-US" sz="2500" b="1">
                <a:solidFill>
                  <a:srgbClr val="17212B"/>
                </a:solidFill>
                <a:latin typeface="Aptos" panose="020B0004020202020204" pitchFamily="34" charset="0"/>
              </a:rPr>
              <a:t>complianceEarlyAccess</a:t>
            </a:r>
          </a:p>
        </p:txBody>
      </p:sp>
      <p:sp>
        <p:nvSpPr>
          <p:cNvPr id="13" name="TextBox 12">
            <a:extLst>
              <a:ext uri="{FF2B5EF4-FFF2-40B4-BE49-F238E27FC236}">
                <a16:creationId xmlns:a16="http://schemas.microsoft.com/office/drawing/2014/main" id="{0D0A2E74-28F3-F22C-09C8-86D254023CD8}"/>
              </a:ext>
            </a:extLst>
          </p:cNvPr>
          <p:cNvSpPr txBox="1"/>
          <p:nvPr/>
        </p:nvSpPr>
        <p:spPr>
          <a:xfrm>
            <a:off x="736600" y="4140199"/>
            <a:ext cx="4889500" cy="12192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Republish test libraries.</a:t>
            </a:r>
          </a:p>
          <a:p>
            <a:r>
              <a:rPr lang="en-US" sz="2100">
                <a:solidFill>
                  <a:srgbClr val="17212B"/>
                </a:solidFill>
                <a:latin typeface="Aptos" panose="020B0004020202020204" pitchFamily="34" charset="0"/>
              </a:rPr>
              <a:t>Run representative workloads.</a:t>
            </a:r>
          </a:p>
          <a:p>
            <a:r>
              <a:rPr lang="en-US" sz="2100">
                <a:solidFill>
                  <a:srgbClr val="17212B"/>
                </a:solidFill>
                <a:latin typeface="Aptos" panose="020B0004020202020204" pitchFamily="34" charset="0"/>
              </a:rPr>
              <a:t>Fix incompatibilities and retest.</a:t>
            </a:r>
          </a:p>
        </p:txBody>
      </p:sp>
      <p:sp>
        <p:nvSpPr>
          <p:cNvPr id="14" name="TextBox 13">
            <a:extLst>
              <a:ext uri="{FF2B5EF4-FFF2-40B4-BE49-F238E27FC236}">
                <a16:creationId xmlns:a16="http://schemas.microsoft.com/office/drawing/2014/main" id="{93F6C7B9-085C-8387-D172-8CAD1B630F81}"/>
              </a:ext>
            </a:extLst>
          </p:cNvPr>
          <p:cNvSpPr txBox="1"/>
          <p:nvPr/>
        </p:nvSpPr>
        <p:spPr>
          <a:xfrm>
            <a:off x="6426200" y="3022599"/>
            <a:ext cx="5029200" cy="317500"/>
          </a:xfrm>
          <a:prstGeom prst="rect">
            <a:avLst/>
          </a:prstGeom>
          <a:noFill/>
        </p:spPr>
        <p:txBody>
          <a:bodyPr vert="horz" wrap="square" lIns="0" tIns="0" rIns="0" bIns="0" rtlCol="0">
            <a:noAutofit/>
          </a:bodyPr>
          <a:lstStyle/>
          <a:p>
            <a:r>
              <a:rPr lang="en-US" sz="1500" b="1">
                <a:solidFill>
                  <a:srgbClr val="007F78"/>
                </a:solidFill>
                <a:latin typeface="Aptos" panose="020B0004020202020204" pitchFamily="34" charset="0"/>
              </a:rPr>
              <a:t>AFTER SIX-MONTH PROMOTION</a:t>
            </a:r>
          </a:p>
        </p:txBody>
      </p:sp>
      <p:sp>
        <p:nvSpPr>
          <p:cNvPr id="15" name="TextBox 14">
            <a:extLst>
              <a:ext uri="{FF2B5EF4-FFF2-40B4-BE49-F238E27FC236}">
                <a16:creationId xmlns:a16="http://schemas.microsoft.com/office/drawing/2014/main" id="{61FBE597-B182-9772-D627-E000688F1146}"/>
              </a:ext>
            </a:extLst>
          </p:cNvPr>
          <p:cNvSpPr txBox="1"/>
          <p:nvPr/>
        </p:nvSpPr>
        <p:spPr>
          <a:xfrm>
            <a:off x="6426200" y="3505199"/>
            <a:ext cx="5029200" cy="431800"/>
          </a:xfrm>
          <a:prstGeom prst="rect">
            <a:avLst/>
          </a:prstGeom>
          <a:noFill/>
        </p:spPr>
        <p:txBody>
          <a:bodyPr vert="horz" wrap="square" lIns="0" tIns="0" rIns="0" bIns="0" rtlCol="0">
            <a:noAutofit/>
          </a:bodyPr>
          <a:lstStyle/>
          <a:p>
            <a:r>
              <a:rPr lang="en-US" sz="2500" b="1">
                <a:solidFill>
                  <a:srgbClr val="17212B"/>
                </a:solidFill>
                <a:latin typeface="Aptos" panose="020B0004020202020204" pitchFamily="34" charset="0"/>
              </a:rPr>
              <a:t>compliance</a:t>
            </a:r>
          </a:p>
        </p:txBody>
      </p:sp>
      <p:sp>
        <p:nvSpPr>
          <p:cNvPr id="16" name="TextBox 15">
            <a:extLst>
              <a:ext uri="{FF2B5EF4-FFF2-40B4-BE49-F238E27FC236}">
                <a16:creationId xmlns:a16="http://schemas.microsoft.com/office/drawing/2014/main" id="{89534A17-BDB3-671D-A492-D10C4AB3C2E2}"/>
              </a:ext>
            </a:extLst>
          </p:cNvPr>
          <p:cNvSpPr txBox="1"/>
          <p:nvPr/>
        </p:nvSpPr>
        <p:spPr>
          <a:xfrm>
            <a:off x="6426200" y="4140199"/>
            <a:ext cx="5029200" cy="1308100"/>
          </a:xfrm>
          <a:prstGeom prst="rect">
            <a:avLst/>
          </a:prstGeom>
          <a:noFill/>
        </p:spPr>
        <p:txBody>
          <a:bodyPr vert="horz" wrap="square" lIns="0" tIns="0" rIns="0" bIns="0" rtlCol="0">
            <a:noAutofit/>
          </a:bodyPr>
          <a:lstStyle/>
          <a:p>
            <a:r>
              <a:rPr lang="en-US" sz="2000">
                <a:solidFill>
                  <a:srgbClr val="17212B"/>
                </a:solidFill>
                <a:latin typeface="Aptos" panose="020B0004020202020204" pitchFamily="34" charset="0"/>
              </a:rPr>
              <a:t>Republish production libraries.</a:t>
            </a:r>
          </a:p>
          <a:p>
            <a:r>
              <a:rPr lang="en-US" sz="2000">
                <a:solidFill>
                  <a:srgbClr val="17212B"/>
                </a:solidFill>
                <a:latin typeface="Aptos" panose="020B0004020202020204" pitchFamily="34" charset="0"/>
              </a:rPr>
              <a:t>Verify the new snapshots.</a:t>
            </a:r>
          </a:p>
          <a:p>
            <a:r>
              <a:rPr lang="en-US" sz="2000">
                <a:solidFill>
                  <a:srgbClr val="17212B"/>
                </a:solidFill>
                <a:latin typeface="Aptos" panose="020B0004020202020204" pitchFamily="34" charset="0"/>
              </a:rPr>
              <a:t>Complete required actions by the deadline.</a:t>
            </a:r>
          </a:p>
        </p:txBody>
      </p:sp>
      <p:sp>
        <p:nvSpPr>
          <p:cNvPr id="17" name="TextBox 16">
            <a:extLst>
              <a:ext uri="{FF2B5EF4-FFF2-40B4-BE49-F238E27FC236}">
                <a16:creationId xmlns:a16="http://schemas.microsoft.com/office/drawing/2014/main" id="{D39B005A-3860-55D7-ABE9-9942632BA60C}"/>
              </a:ext>
            </a:extLst>
          </p:cNvPr>
          <p:cNvSpPr txBox="1"/>
          <p:nvPr/>
        </p:nvSpPr>
        <p:spPr>
          <a:xfrm>
            <a:off x="508000" y="5803899"/>
            <a:ext cx="11176000" cy="482600"/>
          </a:xfrm>
          <a:prstGeom prst="rect">
            <a:avLst/>
          </a:prstGeom>
          <a:noFill/>
        </p:spPr>
        <p:txBody>
          <a:bodyPr vert="horz" wrap="square" lIns="0" tIns="0" rIns="0" bIns="0" rtlCol="0">
            <a:noAutofit/>
          </a:bodyPr>
          <a:lstStyle/>
          <a:p>
            <a:r>
              <a:rPr lang="en-US" sz="2000" b="1">
                <a:solidFill>
                  <a:srgbClr val="BD1833"/>
                </a:solidFill>
                <a:latin typeface="Aptos" panose="020B0004020202020204" pitchFamily="34" charset="0"/>
              </a:rPr>
              <a:t>Republishing on compliance before promotion still uses its older packages.</a:t>
            </a:r>
          </a:p>
        </p:txBody>
      </p:sp>
    </p:spTree>
    <p:extLst>
      <p:ext uri="{BB962C8B-B14F-4D97-AF65-F5344CB8AC3E}">
        <p14:creationId xmlns:p14="http://schemas.microsoft.com/office/powerpoint/2010/main" val="184659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EFFBA1-DA14-94B3-25CC-5E8FA8C47CDD}"/>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B8D3C2-9F68-231D-C856-2874256516CC}"/>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COMMON QUESTIONS</a:t>
            </a:r>
          </a:p>
        </p:txBody>
      </p:sp>
      <p:sp>
        <p:nvSpPr>
          <p:cNvPr id="4" name="TextBox 3">
            <a:extLst>
              <a:ext uri="{FF2B5EF4-FFF2-40B4-BE49-F238E27FC236}">
                <a16:creationId xmlns:a16="http://schemas.microsoft.com/office/drawing/2014/main" id="{34DE2049-889A-4F7D-92E2-3686540E30DD}"/>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What stays the same? What can change?</a:t>
            </a:r>
          </a:p>
        </p:txBody>
      </p:sp>
      <p:sp>
        <p:nvSpPr>
          <p:cNvPr id="5" name="Rectangle 4">
            <a:extLst>
              <a:ext uri="{FF2B5EF4-FFF2-40B4-BE49-F238E27FC236}">
                <a16:creationId xmlns:a16="http://schemas.microsoft.com/office/drawing/2014/main" id="{26F0606A-4E49-6CDF-3898-5AB4A5729ECC}"/>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484E52F-54AB-C3F4-8176-46965DD3CBF5}"/>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EBC3C661-CFFF-D926-1416-C5F13F1F80FA}"/>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09</a:t>
            </a:r>
          </a:p>
        </p:txBody>
      </p:sp>
      <p:sp>
        <p:nvSpPr>
          <p:cNvPr id="8" name="TextBox 7">
            <a:extLst>
              <a:ext uri="{FF2B5EF4-FFF2-40B4-BE49-F238E27FC236}">
                <a16:creationId xmlns:a16="http://schemas.microsoft.com/office/drawing/2014/main" id="{239F63BE-5984-A104-1BB6-436F352E5E02}"/>
              </a:ext>
            </a:extLst>
          </p:cNvPr>
          <p:cNvSpPr txBox="1"/>
          <p:nvPr/>
        </p:nvSpPr>
        <p:spPr>
          <a:xfrm>
            <a:off x="508000" y="1828799"/>
            <a:ext cx="11176000" cy="393700"/>
          </a:xfrm>
          <a:prstGeom prst="rect">
            <a:avLst/>
          </a:prstGeom>
          <a:noFill/>
        </p:spPr>
        <p:txBody>
          <a:bodyPr vert="horz" wrap="square" lIns="0" tIns="0" rIns="0" bIns="0" rtlCol="0">
            <a:noAutofit/>
          </a:bodyPr>
          <a:lstStyle/>
          <a:p>
            <a:r>
              <a:rPr lang="en-US" sz="2300" b="1">
                <a:solidFill>
                  <a:srgbClr val="006DC7"/>
                </a:solidFill>
                <a:latin typeface="Aptos" panose="020B0004020202020204" pitchFamily="34" charset="0"/>
              </a:rPr>
              <a:t>Do I need to opt in?</a:t>
            </a:r>
          </a:p>
        </p:txBody>
      </p:sp>
      <p:sp>
        <p:nvSpPr>
          <p:cNvPr id="9" name="TextBox 8">
            <a:extLst>
              <a:ext uri="{FF2B5EF4-FFF2-40B4-BE49-F238E27FC236}">
                <a16:creationId xmlns:a16="http://schemas.microsoft.com/office/drawing/2014/main" id="{6469BBAD-3A4B-19DB-6926-863130D1D4A9}"/>
              </a:ext>
            </a:extLst>
          </p:cNvPr>
          <p:cNvSpPr txBox="1"/>
          <p:nvPr/>
        </p:nvSpPr>
        <p:spPr>
          <a:xfrm>
            <a:off x="508000" y="2273299"/>
            <a:ext cx="11176000" cy="5715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No. If no channel is configured, the pool uses default.</a:t>
            </a:r>
          </a:p>
        </p:txBody>
      </p:sp>
      <p:sp>
        <p:nvSpPr>
          <p:cNvPr id="10" name="TextBox 9">
            <a:extLst>
              <a:ext uri="{FF2B5EF4-FFF2-40B4-BE49-F238E27FC236}">
                <a16:creationId xmlns:a16="http://schemas.microsoft.com/office/drawing/2014/main" id="{09A51C2F-4AF4-BC7A-1DD6-E6048B0431C0}"/>
              </a:ext>
            </a:extLst>
          </p:cNvPr>
          <p:cNvSpPr txBox="1"/>
          <p:nvPr/>
        </p:nvSpPr>
        <p:spPr>
          <a:xfrm>
            <a:off x="508000" y="2882899"/>
            <a:ext cx="11176000" cy="393700"/>
          </a:xfrm>
          <a:prstGeom prst="rect">
            <a:avLst/>
          </a:prstGeom>
          <a:noFill/>
        </p:spPr>
        <p:txBody>
          <a:bodyPr vert="horz" wrap="square" lIns="0" tIns="0" rIns="0" bIns="0" rtlCol="0">
            <a:noAutofit/>
          </a:bodyPr>
          <a:lstStyle/>
          <a:p>
            <a:r>
              <a:rPr lang="en-US" sz="2300" b="1">
                <a:solidFill>
                  <a:srgbClr val="006DC7"/>
                </a:solidFill>
                <a:latin typeface="Aptos" panose="020B0004020202020204" pitchFamily="34" charset="0"/>
              </a:rPr>
              <a:t>Is this a preview runtime?</a:t>
            </a:r>
          </a:p>
        </p:txBody>
      </p:sp>
      <p:sp>
        <p:nvSpPr>
          <p:cNvPr id="11" name="TextBox 10">
            <a:extLst>
              <a:ext uri="{FF2B5EF4-FFF2-40B4-BE49-F238E27FC236}">
                <a16:creationId xmlns:a16="http://schemas.microsoft.com/office/drawing/2014/main" id="{DCD4E8F1-EA01-34DF-CF37-CB031C6421D9}"/>
              </a:ext>
            </a:extLst>
          </p:cNvPr>
          <p:cNvSpPr txBox="1"/>
          <p:nvPr/>
        </p:nvSpPr>
        <p:spPr>
          <a:xfrm>
            <a:off x="508000" y="3327399"/>
            <a:ext cx="11176000" cy="5715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No. Release channels are in preview; Synapse Runtime 3.5 is GA.</a:t>
            </a:r>
          </a:p>
        </p:txBody>
      </p:sp>
      <p:sp>
        <p:nvSpPr>
          <p:cNvPr id="12" name="TextBox 11">
            <a:extLst>
              <a:ext uri="{FF2B5EF4-FFF2-40B4-BE49-F238E27FC236}">
                <a16:creationId xmlns:a16="http://schemas.microsoft.com/office/drawing/2014/main" id="{5E10AB38-FA9D-B8B5-4ACE-4120D5971F4D}"/>
              </a:ext>
            </a:extLst>
          </p:cNvPr>
          <p:cNvSpPr txBox="1"/>
          <p:nvPr/>
        </p:nvSpPr>
        <p:spPr>
          <a:xfrm>
            <a:off x="508000" y="3936999"/>
            <a:ext cx="11176000" cy="393700"/>
          </a:xfrm>
          <a:prstGeom prst="rect">
            <a:avLst/>
          </a:prstGeom>
          <a:noFill/>
        </p:spPr>
        <p:txBody>
          <a:bodyPr vert="horz" wrap="square" lIns="0" tIns="0" rIns="0" bIns="0" rtlCol="0">
            <a:noAutofit/>
          </a:bodyPr>
          <a:lstStyle/>
          <a:p>
            <a:r>
              <a:rPr lang="en-US" sz="2300" b="1">
                <a:solidFill>
                  <a:srgbClr val="006DC7"/>
                </a:solidFill>
                <a:latin typeface="Aptos" panose="020B0004020202020204" pitchFamily="34" charset="0"/>
              </a:rPr>
              <a:t>Can I return to a stable channel?</a:t>
            </a:r>
          </a:p>
        </p:txBody>
      </p:sp>
      <p:sp>
        <p:nvSpPr>
          <p:cNvPr id="13" name="TextBox 12">
            <a:extLst>
              <a:ext uri="{FF2B5EF4-FFF2-40B4-BE49-F238E27FC236}">
                <a16:creationId xmlns:a16="http://schemas.microsoft.com/office/drawing/2014/main" id="{D69B866A-076D-CD43-181D-842CD3B59470}"/>
              </a:ext>
            </a:extLst>
          </p:cNvPr>
          <p:cNvSpPr txBox="1"/>
          <p:nvPr/>
        </p:nvSpPr>
        <p:spPr>
          <a:xfrm>
            <a:off x="508000" y="4381499"/>
            <a:ext cx="11176000" cy="5715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Yes, with a new session. This does not pin an older build or undo library changes.</a:t>
            </a:r>
          </a:p>
        </p:txBody>
      </p:sp>
      <p:sp>
        <p:nvSpPr>
          <p:cNvPr id="14" name="TextBox 13">
            <a:extLst>
              <a:ext uri="{FF2B5EF4-FFF2-40B4-BE49-F238E27FC236}">
                <a16:creationId xmlns:a16="http://schemas.microsoft.com/office/drawing/2014/main" id="{CE918CC9-23A8-97C0-2B26-F5365A27FFBE}"/>
              </a:ext>
            </a:extLst>
          </p:cNvPr>
          <p:cNvSpPr txBox="1"/>
          <p:nvPr/>
        </p:nvSpPr>
        <p:spPr>
          <a:xfrm>
            <a:off x="508000" y="4991099"/>
            <a:ext cx="11176000" cy="393700"/>
          </a:xfrm>
          <a:prstGeom prst="rect">
            <a:avLst/>
          </a:prstGeom>
          <a:noFill/>
        </p:spPr>
        <p:txBody>
          <a:bodyPr vert="horz" wrap="square" lIns="0" tIns="0" rIns="0" bIns="0" rtlCol="0">
            <a:noAutofit/>
          </a:bodyPr>
          <a:lstStyle/>
          <a:p>
            <a:r>
              <a:rPr lang="en-US" sz="2300" b="1">
                <a:solidFill>
                  <a:srgbClr val="006DC7"/>
                </a:solidFill>
                <a:latin typeface="Aptos" panose="020B0004020202020204" pitchFamily="34" charset="0"/>
              </a:rPr>
              <a:t>Can urgent fixes arrive between releases?</a:t>
            </a:r>
          </a:p>
        </p:txBody>
      </p:sp>
      <p:sp>
        <p:nvSpPr>
          <p:cNvPr id="15" name="TextBox 14">
            <a:extLst>
              <a:ext uri="{FF2B5EF4-FFF2-40B4-BE49-F238E27FC236}">
                <a16:creationId xmlns:a16="http://schemas.microsoft.com/office/drawing/2014/main" id="{C4A667F3-E002-B14C-2A72-21C1392AD7C7}"/>
              </a:ext>
            </a:extLst>
          </p:cNvPr>
          <p:cNvSpPr txBox="1"/>
          <p:nvPr/>
        </p:nvSpPr>
        <p:spPr>
          <a:xfrm>
            <a:off x="508000" y="5435599"/>
            <a:ext cx="11176000" cy="571500"/>
          </a:xfrm>
          <a:prstGeom prst="rect">
            <a:avLst/>
          </a:prstGeom>
          <a:noFill/>
        </p:spPr>
        <p:txBody>
          <a:bodyPr vert="horz" wrap="square" lIns="0" tIns="0" rIns="0" bIns="0" rtlCol="0">
            <a:noAutofit/>
          </a:bodyPr>
          <a:lstStyle/>
          <a:p>
            <a:r>
              <a:rPr lang="en-US" sz="2100">
                <a:solidFill>
                  <a:srgbClr val="17212B"/>
                </a:solidFill>
                <a:latin typeface="Aptos" panose="020B0004020202020204" pitchFamily="34" charset="0"/>
              </a:rPr>
              <a:t>Yes. Exploitable issues are high priority across all affected channels.</a:t>
            </a:r>
          </a:p>
        </p:txBody>
      </p:sp>
    </p:spTree>
    <p:extLst>
      <p:ext uri="{BB962C8B-B14F-4D97-AF65-F5344CB8AC3E}">
        <p14:creationId xmlns:p14="http://schemas.microsoft.com/office/powerpoint/2010/main" val="2616596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E7ED96-FF4C-4A09-FC95-150E6012553A}"/>
              </a:ext>
            </a:extLst>
          </p:cNvPr>
          <p:cNvSpPr/>
          <p:nvPr/>
        </p:nvSpPr>
        <p:spPr>
          <a:xfrm>
            <a:off x="508000" y="381000"/>
            <a:ext cx="406400" cy="50800"/>
          </a:xfrm>
          <a:prstGeom prst="rect">
            <a:avLst/>
          </a:prstGeom>
          <a:solidFill>
            <a:srgbClr val="007F7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76CD64-1E61-6616-DF85-9158B9CB2F03}"/>
              </a:ext>
            </a:extLst>
          </p:cNvPr>
          <p:cNvSpPr txBox="1"/>
          <p:nvPr/>
        </p:nvSpPr>
        <p:spPr>
          <a:xfrm>
            <a:off x="1066800" y="292099"/>
            <a:ext cx="9906000" cy="304800"/>
          </a:xfrm>
          <a:prstGeom prst="rect">
            <a:avLst/>
          </a:prstGeom>
          <a:noFill/>
        </p:spPr>
        <p:txBody>
          <a:bodyPr vert="horz" wrap="square" lIns="0" tIns="0" rIns="0" bIns="0" rtlCol="0">
            <a:noAutofit/>
          </a:bodyPr>
          <a:lstStyle/>
          <a:p>
            <a:r>
              <a:rPr lang="en-US" sz="1200" b="1">
                <a:solidFill>
                  <a:srgbClr val="52616B"/>
                </a:solidFill>
                <a:latin typeface="Aptos" panose="020B0004020202020204" pitchFamily="34" charset="0"/>
              </a:rPr>
              <a:t>TAKEAWAYS AND RESOURCES</a:t>
            </a:r>
          </a:p>
        </p:txBody>
      </p:sp>
      <p:sp>
        <p:nvSpPr>
          <p:cNvPr id="4" name="TextBox 3">
            <a:extLst>
              <a:ext uri="{FF2B5EF4-FFF2-40B4-BE49-F238E27FC236}">
                <a16:creationId xmlns:a16="http://schemas.microsoft.com/office/drawing/2014/main" id="{81464175-3776-48A8-45B1-65C7025B8E04}"/>
              </a:ext>
            </a:extLst>
          </p:cNvPr>
          <p:cNvSpPr txBox="1"/>
          <p:nvPr/>
        </p:nvSpPr>
        <p:spPr>
          <a:xfrm>
            <a:off x="508000" y="838199"/>
            <a:ext cx="11176000" cy="1016000"/>
          </a:xfrm>
          <a:prstGeom prst="rect">
            <a:avLst/>
          </a:prstGeom>
          <a:noFill/>
        </p:spPr>
        <p:txBody>
          <a:bodyPr vert="horz" wrap="square" lIns="0" tIns="0" rIns="0" bIns="0" rtlCol="0">
            <a:noAutofit/>
          </a:bodyPr>
          <a:lstStyle/>
          <a:p>
            <a:r>
              <a:rPr lang="en-US" sz="3200" b="1">
                <a:solidFill>
                  <a:srgbClr val="17212B"/>
                </a:solidFill>
                <a:latin typeface="Aptos" panose="020B0004020202020204" pitchFamily="34" charset="0"/>
              </a:rPr>
              <a:t>Choose. Validate. Republish.</a:t>
            </a:r>
          </a:p>
        </p:txBody>
      </p:sp>
      <p:sp>
        <p:nvSpPr>
          <p:cNvPr id="5" name="Rectangle 4">
            <a:extLst>
              <a:ext uri="{FF2B5EF4-FFF2-40B4-BE49-F238E27FC236}">
                <a16:creationId xmlns:a16="http://schemas.microsoft.com/office/drawing/2014/main" id="{9B37C96A-34B1-9A2A-58F6-EF378A605E1D}"/>
              </a:ext>
            </a:extLst>
          </p:cNvPr>
          <p:cNvSpPr/>
          <p:nvPr/>
        </p:nvSpPr>
        <p:spPr>
          <a:xfrm>
            <a:off x="508000" y="64262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4AF4C51-D85B-58B3-74C2-0FAD9A3A618E}"/>
              </a:ext>
            </a:extLst>
          </p:cNvPr>
          <p:cNvSpPr txBox="1"/>
          <p:nvPr/>
        </p:nvSpPr>
        <p:spPr>
          <a:xfrm>
            <a:off x="508000" y="6527800"/>
            <a:ext cx="10414000" cy="228600"/>
          </a:xfrm>
          <a:prstGeom prst="rect">
            <a:avLst/>
          </a:prstGeom>
          <a:noFill/>
        </p:spPr>
        <p:txBody>
          <a:bodyPr vert="horz" wrap="square" lIns="0" tIns="0" rIns="0" bIns="0" rtlCol="0">
            <a:noAutofit/>
          </a:bodyPr>
          <a:lstStyle/>
          <a:p>
            <a:r>
              <a:rPr lang="en-US" sz="1000">
                <a:solidFill>
                  <a:srgbClr val="52616B"/>
                </a:solidFill>
                <a:latin typeface="Aptos" panose="020B0004020202020204" pitchFamily="34" charset="0"/>
              </a:rPr>
              <a:t>AZURE SYNAPSE ANALYTICS  |  RELEASE CHANNELS (PREVIEW)</a:t>
            </a:r>
          </a:p>
        </p:txBody>
      </p:sp>
      <p:sp>
        <p:nvSpPr>
          <p:cNvPr id="7" name="TextBox 6">
            <a:extLst>
              <a:ext uri="{FF2B5EF4-FFF2-40B4-BE49-F238E27FC236}">
                <a16:creationId xmlns:a16="http://schemas.microsoft.com/office/drawing/2014/main" id="{2B6134A5-F65B-F725-C990-431F6E30C73D}"/>
              </a:ext>
            </a:extLst>
          </p:cNvPr>
          <p:cNvSpPr txBox="1"/>
          <p:nvPr/>
        </p:nvSpPr>
        <p:spPr>
          <a:xfrm>
            <a:off x="11264900" y="6502400"/>
            <a:ext cx="419100" cy="254000"/>
          </a:xfrm>
          <a:prstGeom prst="rect">
            <a:avLst/>
          </a:prstGeom>
          <a:noFill/>
        </p:spPr>
        <p:txBody>
          <a:bodyPr vert="horz" wrap="square" lIns="0" tIns="0" rIns="0" bIns="0" rtlCol="0">
            <a:noAutofit/>
          </a:bodyPr>
          <a:lstStyle/>
          <a:p>
            <a:r>
              <a:rPr lang="en-US" sz="1200">
                <a:solidFill>
                  <a:srgbClr val="52616B"/>
                </a:solidFill>
                <a:latin typeface="Aptos" panose="020B0004020202020204" pitchFamily="34" charset="0"/>
              </a:rPr>
              <a:t>10</a:t>
            </a:r>
          </a:p>
        </p:txBody>
      </p:sp>
      <p:sp>
        <p:nvSpPr>
          <p:cNvPr id="8" name="TextBox 7">
            <a:extLst>
              <a:ext uri="{FF2B5EF4-FFF2-40B4-BE49-F238E27FC236}">
                <a16:creationId xmlns:a16="http://schemas.microsoft.com/office/drawing/2014/main" id="{29EFE996-7AF2-5782-681F-22E27E41B039}"/>
              </a:ext>
            </a:extLst>
          </p:cNvPr>
          <p:cNvSpPr txBox="1"/>
          <p:nvPr/>
        </p:nvSpPr>
        <p:spPr>
          <a:xfrm>
            <a:off x="508000" y="1841499"/>
            <a:ext cx="11176000" cy="635000"/>
          </a:xfrm>
          <a:prstGeom prst="rect">
            <a:avLst/>
          </a:prstGeom>
          <a:noFill/>
        </p:spPr>
        <p:txBody>
          <a:bodyPr vert="horz" wrap="square" lIns="0" tIns="0" rIns="0" bIns="0" rtlCol="0">
            <a:noAutofit/>
          </a:bodyPr>
          <a:lstStyle/>
          <a:p>
            <a:r>
              <a:rPr lang="en-US" sz="2500" b="1">
                <a:solidFill>
                  <a:srgbClr val="17212B"/>
                </a:solidFill>
                <a:latin typeface="Aptos" panose="020B0004020202020204" pitchFamily="34" charset="0"/>
              </a:rPr>
              <a:t>01  Choose a production path and matching test channel.</a:t>
            </a:r>
          </a:p>
        </p:txBody>
      </p:sp>
      <p:sp>
        <p:nvSpPr>
          <p:cNvPr id="9" name="TextBox 8">
            <a:extLst>
              <a:ext uri="{FF2B5EF4-FFF2-40B4-BE49-F238E27FC236}">
                <a16:creationId xmlns:a16="http://schemas.microsoft.com/office/drawing/2014/main" id="{759CEA77-22A3-DC8F-B9DC-4950C862BEFF}"/>
              </a:ext>
            </a:extLst>
          </p:cNvPr>
          <p:cNvSpPr txBox="1"/>
          <p:nvPr/>
        </p:nvSpPr>
        <p:spPr>
          <a:xfrm>
            <a:off x="508000" y="2641599"/>
            <a:ext cx="11176000" cy="635000"/>
          </a:xfrm>
          <a:prstGeom prst="rect">
            <a:avLst/>
          </a:prstGeom>
          <a:noFill/>
        </p:spPr>
        <p:txBody>
          <a:bodyPr vert="horz" wrap="square" lIns="0" tIns="0" rIns="0" bIns="0" rtlCol="0">
            <a:noAutofit/>
          </a:bodyPr>
          <a:lstStyle/>
          <a:p>
            <a:r>
              <a:rPr lang="en-US" sz="2500" b="1">
                <a:solidFill>
                  <a:srgbClr val="17212B"/>
                </a:solidFill>
                <a:latin typeface="Aptos" panose="020B0004020202020204" pitchFamily="34" charset="0"/>
              </a:rPr>
              <a:t>02  Test monthly changes and track the runtime build.</a:t>
            </a:r>
          </a:p>
        </p:txBody>
      </p:sp>
      <p:sp>
        <p:nvSpPr>
          <p:cNvPr id="10" name="TextBox 9">
            <a:extLst>
              <a:ext uri="{FF2B5EF4-FFF2-40B4-BE49-F238E27FC236}">
                <a16:creationId xmlns:a16="http://schemas.microsoft.com/office/drawing/2014/main" id="{E7751CE8-E1B2-0DB0-6352-0C327AF7C0EF}"/>
              </a:ext>
            </a:extLst>
          </p:cNvPr>
          <p:cNvSpPr txBox="1"/>
          <p:nvPr/>
        </p:nvSpPr>
        <p:spPr>
          <a:xfrm>
            <a:off x="508000" y="3441699"/>
            <a:ext cx="11176000" cy="825500"/>
          </a:xfrm>
          <a:prstGeom prst="rect">
            <a:avLst/>
          </a:prstGeom>
          <a:noFill/>
        </p:spPr>
        <p:txBody>
          <a:bodyPr vert="horz" wrap="square" lIns="0" tIns="0" rIns="0" bIns="0" rtlCol="0">
            <a:noAutofit/>
          </a:bodyPr>
          <a:lstStyle/>
          <a:p>
            <a:r>
              <a:rPr lang="en-US" sz="2500" b="1">
                <a:solidFill>
                  <a:srgbClr val="17212B"/>
                </a:solidFill>
                <a:latin typeface="Aptos" panose="020B0004020202020204" pitchFamily="34" charset="0"/>
              </a:rPr>
              <a:t>03  Republish after each six-month compliance promotion.</a:t>
            </a:r>
          </a:p>
        </p:txBody>
      </p:sp>
      <p:sp>
        <p:nvSpPr>
          <p:cNvPr id="11" name="Rectangle 10">
            <a:extLst>
              <a:ext uri="{FF2B5EF4-FFF2-40B4-BE49-F238E27FC236}">
                <a16:creationId xmlns:a16="http://schemas.microsoft.com/office/drawing/2014/main" id="{4B24A6AD-3E0E-51BA-DEA8-3F472B1940D6}"/>
              </a:ext>
            </a:extLst>
          </p:cNvPr>
          <p:cNvSpPr/>
          <p:nvPr/>
        </p:nvSpPr>
        <p:spPr>
          <a:xfrm>
            <a:off x="508000" y="4508500"/>
            <a:ext cx="11176000" cy="12700"/>
          </a:xfrm>
          <a:prstGeom prst="rect">
            <a:avLst/>
          </a:prstGeom>
          <a:solidFill>
            <a:srgbClr val="DAE3E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3"/>
            <a:extLst>
              <a:ext uri="{FF2B5EF4-FFF2-40B4-BE49-F238E27FC236}">
                <a16:creationId xmlns:a16="http://schemas.microsoft.com/office/drawing/2014/main" id="{8AB1CA49-D179-AC16-D098-DD9D42A4473D}"/>
              </a:ext>
            </a:extLst>
          </p:cNvPr>
          <p:cNvSpPr txBox="1"/>
          <p:nvPr/>
        </p:nvSpPr>
        <p:spPr>
          <a:xfrm>
            <a:off x="508000" y="4762499"/>
            <a:ext cx="11176000" cy="457200"/>
          </a:xfrm>
          <a:prstGeom prst="rect">
            <a:avLst/>
          </a:prstGeom>
          <a:noFill/>
        </p:spPr>
        <p:txBody>
          <a:bodyPr vert="horz" wrap="square" lIns="0" tIns="0" rIns="0" bIns="0" rtlCol="0">
            <a:noAutofit/>
          </a:bodyPr>
          <a:lstStyle/>
          <a:p>
            <a:r>
              <a:rPr lang="en-US" sz="2200">
                <a:solidFill>
                  <a:srgbClr val="006DC7"/>
                </a:solidFill>
                <a:latin typeface="Aptos" panose="020B0004020202020204" pitchFamily="34" charset="0"/>
              </a:rPr>
              <a:t>Release notes: github.com/microsoft/synapse-spark-runtime</a:t>
            </a:r>
          </a:p>
        </p:txBody>
      </p:sp>
      <p:sp>
        <p:nvSpPr>
          <p:cNvPr id="13" name="TextBox 12">
            <a:hlinkClick r:id="rId4"/>
            <a:extLst>
              <a:ext uri="{FF2B5EF4-FFF2-40B4-BE49-F238E27FC236}">
                <a16:creationId xmlns:a16="http://schemas.microsoft.com/office/drawing/2014/main" id="{3B2748AB-F0BD-D7B8-D081-CBB904F8F1A4}"/>
              </a:ext>
            </a:extLst>
          </p:cNvPr>
          <p:cNvSpPr txBox="1"/>
          <p:nvPr/>
        </p:nvSpPr>
        <p:spPr>
          <a:xfrm>
            <a:off x="508000" y="5333999"/>
            <a:ext cx="11176000" cy="406400"/>
          </a:xfrm>
          <a:prstGeom prst="rect">
            <a:avLst/>
          </a:prstGeom>
          <a:noFill/>
        </p:spPr>
        <p:txBody>
          <a:bodyPr vert="horz" wrap="square" lIns="0" tIns="0" rIns="0" bIns="0" rtlCol="0">
            <a:noAutofit/>
          </a:bodyPr>
          <a:lstStyle/>
          <a:p>
            <a:r>
              <a:rPr lang="en-US" sz="2000">
                <a:solidFill>
                  <a:srgbClr val="007F78"/>
                </a:solidFill>
                <a:latin typeface="Aptos" panose="020B0004020202020204" pitchFamily="34" charset="0"/>
              </a:rPr>
              <a:t>Synapse Spark configuration and library management guides</a:t>
            </a:r>
          </a:p>
        </p:txBody>
      </p:sp>
      <p:sp>
        <p:nvSpPr>
          <p:cNvPr id="14" name="TextBox 13">
            <a:extLst>
              <a:ext uri="{FF2B5EF4-FFF2-40B4-BE49-F238E27FC236}">
                <a16:creationId xmlns:a16="http://schemas.microsoft.com/office/drawing/2014/main" id="{9A0FC54F-543B-B1F0-DB35-53E89F11DB9B}"/>
              </a:ext>
            </a:extLst>
          </p:cNvPr>
          <p:cNvSpPr txBox="1"/>
          <p:nvPr/>
        </p:nvSpPr>
        <p:spPr>
          <a:xfrm>
            <a:off x="508000" y="5943599"/>
            <a:ext cx="11176000" cy="342900"/>
          </a:xfrm>
          <a:prstGeom prst="rect">
            <a:avLst/>
          </a:prstGeom>
          <a:noFill/>
        </p:spPr>
        <p:txBody>
          <a:bodyPr vert="horz" wrap="square" lIns="0" tIns="0" rIns="0" bIns="0" rtlCol="0">
            <a:noAutofit/>
          </a:bodyPr>
          <a:lstStyle/>
          <a:p>
            <a:r>
              <a:rPr lang="en-US">
                <a:solidFill>
                  <a:srgbClr val="52616B"/>
                </a:solidFill>
                <a:latin typeface="Aptos" panose="020B0004020202020204" pitchFamily="34" charset="0"/>
              </a:rPr>
              <a:t>Discussion: Which workloads should you validate first?</a:t>
            </a:r>
          </a:p>
        </p:txBody>
      </p:sp>
    </p:spTree>
    <p:extLst>
      <p:ext uri="{BB962C8B-B14F-4D97-AF65-F5344CB8AC3E}">
        <p14:creationId xmlns:p14="http://schemas.microsoft.com/office/powerpoint/2010/main" val="2079094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1899</Words>
  <Application>Microsoft Office PowerPoint</Application>
  <PresentationFormat>Custom</PresentationFormat>
  <Paragraphs>168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Arshad Ali</dc:creator>
  <cp:lastModifiedBy>Arshad Ali</cp:lastModifiedBy>
  <cp:revision>1</cp:revision>
  <dcterms:created xsi:type="dcterms:W3CDTF">2026-09-23T21:35:08Z</dcterms:created>
  <dcterms:modified xsi:type="dcterms:W3CDTF">2026-09-23T21:35:08Z</dcterms:modified>
</cp:coreProperties>
</file>